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Anton" charset="1" panose="00000500000000000000"/>
      <p:regular r:id="rId23"/>
    </p:embeddedFont>
    <p:embeddedFont>
      <p:font typeface="Gotham" charset="1" panose="00000000000000000000"/>
      <p:regular r:id="rId25"/>
    </p:embeddedFont>
    <p:embeddedFont>
      <p:font typeface="Gotham Bold" charset="1" panose="000000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notesMasters/notesMaster1.xml" Type="http://schemas.openxmlformats.org/officeDocument/2006/relationships/notesMaster"/><Relationship Id="rId21" Target="theme/theme2.xml" Type="http://schemas.openxmlformats.org/officeDocument/2006/relationships/theme"/><Relationship Id="rId22" Target="notesSlides/notesSlide1.xml" Type="http://schemas.openxmlformats.org/officeDocument/2006/relationships/notesSlide"/><Relationship Id="rId23" Target="fonts/font23.fntdata" Type="http://schemas.openxmlformats.org/officeDocument/2006/relationships/font"/><Relationship Id="rId24" Target="notesSlides/notesSlide2.xml" Type="http://schemas.openxmlformats.org/officeDocument/2006/relationships/notesSlide"/><Relationship Id="rId25" Target="fonts/font25.fntdata" Type="http://schemas.openxmlformats.org/officeDocument/2006/relationships/font"/><Relationship Id="rId26" Target="notesSlides/notesSlide3.xml" Type="http://schemas.openxmlformats.org/officeDocument/2006/relationships/notesSlide"/><Relationship Id="rId27" Target="notesSlides/notesSlide4.xml" Type="http://schemas.openxmlformats.org/officeDocument/2006/relationships/notesSlide"/><Relationship Id="rId28" Target="notesSlides/notesSlide5.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6.xml" Type="http://schemas.openxmlformats.org/officeDocument/2006/relationships/notesSlide"/><Relationship Id="rId31" Target="notesSlides/notesSlide7.xml" Type="http://schemas.openxmlformats.org/officeDocument/2006/relationships/notesSlide"/><Relationship Id="rId32" Target="notesSlides/notesSlide8.xml" Type="http://schemas.openxmlformats.org/officeDocument/2006/relationships/notesSlide"/><Relationship Id="rId33" Target="notesSlides/notesSlide9.xml" Type="http://schemas.openxmlformats.org/officeDocument/2006/relationships/notesSlide"/><Relationship Id="rId34" Target="notesSlides/notesSlide10.xml" Type="http://schemas.openxmlformats.org/officeDocument/2006/relationships/notesSlide"/><Relationship Id="rId35" Target="notesSlides/notesSlide11.xml" Type="http://schemas.openxmlformats.org/officeDocument/2006/relationships/notesSlide"/><Relationship Id="rId36" Target="notesSlides/notesSlide12.xml" Type="http://schemas.openxmlformats.org/officeDocument/2006/relationships/notesSlide"/><Relationship Id="rId37" Target="notesSlides/notesSlide13.xml" Type="http://schemas.openxmlformats.org/officeDocument/2006/relationships/notesSlide"/><Relationship Id="rId38" Target="notesSlides/notesSlide14.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Hello everybody, as you may know, my contract is coming to an end. </a:t>
            </a:r>
          </a:p>
          <a:p>
            <a:r>
              <a:rPr lang="en-US"/>
              <a:t>So, it’s time for me to show you my project :</a:t>
            </a:r>
          </a:p>
          <a:p>
            <a:r>
              <a:rPr lang="en-US"/>
              <a:t>the worm analysis software!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Everything starts with this page. On the left, you have the menu with all the available pages. On the right, a parameter panel—I will explain that later. At the top, you can decide to close or open the parameter panel, and switch between dark or light mode.</a:t>
            </a:r>
          </a:p>
          <a:p>
            <a:r>
              <a:rPr lang="en-US"/>
              <a:t/>
            </a:r>
          </a:p>
          <a:p>
            <a:r>
              <a:rPr lang="en-US"/>
              <a:t>You always start with this page that lets you perform a scan. You see a live image in the square at the center so that you can focus the microscope, and then click on the start button just under it to launch the scan. That means the microscope will move by itself, take an image, move, take another image, etc., to cover the whole plate. At the end, it reconstructs a large image representing the entire plate.</a:t>
            </a:r>
          </a:p>
          <a:p>
            <a:r>
              <a:rPr lang="en-US"/>
              <a:t>But it's not magic.</a:t>
            </a:r>
          </a:p>
          <a:p>
            <a:r>
              <a:rPr lang="en-US"/>
              <a:t/>
            </a:r>
          </a:p>
          <a:p>
            <a:r>
              <a:rPr lang="en-US"/>
              <a:t>You have to move the microscope to the lower right corner position and use the right objective. On the Nikon microscope, you have to use objective 4, and on the macrozoom, objective 2.</a:t>
            </a:r>
          </a:p>
          <a:p>
            <a:r>
              <a:rPr lang="en-US"/>
              <a:t/>
            </a:r>
          </a:p>
          <a:p>
            <a:r>
              <a:rPr lang="en-US"/>
              <a:t>But, as you know, on the macrozoom, you can also zoom with the dial, and you have to use the 3rd position.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Did you already forget what to use? It’s not a problem. You have a small reminder here:</a:t>
            </a:r>
          </a:p>
          <a:p>
            <a:r>
              <a:rPr lang="en-US"/>
              <a:t/>
            </a:r>
          </a:p>
          <a:p>
            <a:r>
              <a:rPr lang="en-US"/>
              <a:t>The text is different for the two microscopes. One last important thing on this page: you have to tell the software which zoom you are using in this box. For the Nikon, it’s the objective you need to enter, so 4. For the macrozoom, you always use objective 2, but it’s the dial position you have to tell the software, so 3.</a:t>
            </a:r>
          </a:p>
          <a:p>
            <a:r>
              <a:rPr lang="en-US"/>
              <a:t/>
            </a:r>
          </a:p>
          <a:p>
            <a:r>
              <a:rPr lang="en-US"/>
              <a:t>Most of the time, I recommend using the objectives I told you, but if the worms you are seeing are really small—for example, at the L1 stage—you can use another zoom; just don't forget to tell the software.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Hello everybody, as you may know, my contract is coming to an end. </a:t>
            </a:r>
          </a:p>
          <a:p>
            <a:r>
              <a:rPr lang="en-US"/>
              <a:t>So, it’s time for me to show you my project :</a:t>
            </a:r>
          </a:p>
          <a:p>
            <a:r>
              <a:rPr lang="en-US"/>
              <a:t>the worm analysis software!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when a scan is done, in about a minute, you get to this page. </a:t>
            </a:r>
          </a:p>
          <a:p>
            <a:r>
              <a:rPr lang="en-US"/>
              <a:t/>
            </a:r>
          </a:p>
          <a:p>
            <a:r>
              <a:rPr lang="en-US"/>
              <a:t>You see the big reconstructed image and all the worms that have been detected. It’s not perfect, so before going to the analysis page, you can clean it up here by adding a new worm, removing one, or moving a worm. All you have to do is click on the button to choose which mode you want to use. A quick summary is also available if you hover over the info icon with the mouse.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 now comes the fun part! You can switch to the worm analysis page. </a:t>
            </a:r>
          </a:p>
          <a:p>
            <a:r>
              <a:rPr lang="en-US"/>
              <a:t/>
            </a:r>
          </a:p>
          <a:p>
            <a:r>
              <a:rPr lang="en-US"/>
              <a:t>You have a live image on the left; you can switch to a snap mode with the button just under it and save an image.</a:t>
            </a:r>
          </a:p>
          <a:p>
            <a:r>
              <a:rPr lang="en-US"/>
              <a:t/>
            </a:r>
          </a:p>
          <a:p>
            <a:r>
              <a:rPr lang="en-US"/>
              <a:t>And, thanks to the scan part, the software knows where all the worms are. So you can just click on the arrow buttons to go to the next worm, or the previous one. All of this can be used in a lot of contexts, even if you don't want to search for synapse mutations.</a:t>
            </a:r>
          </a:p>
          <a:p>
            <a:r>
              <a:rPr lang="en-US"/>
              <a:t>In the case of mutation detection, you just have to click on this button and a few seconds later, you get a probability of having a mutation. You can also count how many worms with a mutation you have; it’s just a counter, so you can use it for anything.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 now comes the fun part! You can switch to the worm analysis page. </a:t>
            </a:r>
          </a:p>
          <a:p>
            <a:r>
              <a:rPr lang="en-US"/>
              <a:t/>
            </a:r>
          </a:p>
          <a:p>
            <a:r>
              <a:rPr lang="en-US"/>
              <a:t>You have a live image on the left; you can switch to a snap mode with the button just under it and save an image.</a:t>
            </a:r>
          </a:p>
          <a:p>
            <a:r>
              <a:rPr lang="en-US"/>
              <a:t/>
            </a:r>
          </a:p>
          <a:p>
            <a:r>
              <a:rPr lang="en-US"/>
              <a:t>And, thanks to the scan part, the software knows where all the worms are. So you can just click on the arrow buttons to go to the next worm, or the previous one. All of this can be used in a lot of contexts, even if you don't want to search for synapse mutations.</a:t>
            </a:r>
          </a:p>
          <a:p>
            <a:r>
              <a:rPr lang="en-US"/>
              <a:t>In the case of mutation detection, you just have to click on this button and a few seconds later, you get a probability of having a mutation. You can also count how many worms with a mutation you have; it’s just a counter, so you can use it for anything.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 now comes the fun part! You can switch to the worm analysis page. </a:t>
            </a:r>
          </a:p>
          <a:p>
            <a:r>
              <a:rPr lang="en-US"/>
              <a:t/>
            </a:r>
          </a:p>
          <a:p>
            <a:r>
              <a:rPr lang="en-US"/>
              <a:t>You have a live image on the left; you can switch to a snap mode with the button just under it and save an image.</a:t>
            </a:r>
          </a:p>
          <a:p>
            <a:r>
              <a:rPr lang="en-US"/>
              <a:t/>
            </a:r>
          </a:p>
          <a:p>
            <a:r>
              <a:rPr lang="en-US"/>
              <a:t>And, thanks to the scan part, the software knows where all the worms are. So you can just click on the arrow buttons to go to the next worm, or the previous one. All of this can be used in a lot of contexts, even if you don't want to search for synapse mutations.</a:t>
            </a:r>
          </a:p>
          <a:p>
            <a:r>
              <a:rPr lang="en-US"/>
              <a:t>In the case of mutation detection, you just have to click on this button and a few seconds later, you get a probability of having a mutation. You can also count how many worms with a mutation you have; it’s just a counter, so you can use it for anything.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 now comes the fun part! You can switch to the worm analysis page. </a:t>
            </a:r>
          </a:p>
          <a:p>
            <a:r>
              <a:rPr lang="en-US"/>
              <a:t/>
            </a:r>
          </a:p>
          <a:p>
            <a:r>
              <a:rPr lang="en-US"/>
              <a:t>You have a live image on the left; you can switch to a snap mode with the button just under it and save an image.</a:t>
            </a:r>
          </a:p>
          <a:p>
            <a:r>
              <a:rPr lang="en-US"/>
              <a:t/>
            </a:r>
          </a:p>
          <a:p>
            <a:r>
              <a:rPr lang="en-US"/>
              <a:t>And, thanks to the scan part, the software knows where all the worms are. So you can just click on the arrow buttons to go to the next worm, or the previous one. All of this can be used in a lot of contexts, even if you don't want to search for synapse mutations.</a:t>
            </a:r>
          </a:p>
          <a:p>
            <a:r>
              <a:rPr lang="en-US"/>
              <a:t>In the case of mutation detection, you just have to click on this button and a few seconds later, you get a probability of having a mutation. You can also count how many worms with a mutation you have; it’s just a counter, so you can use it for anything.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 now comes the fun part! You can switch to the worm analysis page. </a:t>
            </a:r>
          </a:p>
          <a:p>
            <a:r>
              <a:rPr lang="en-US"/>
              <a:t/>
            </a:r>
          </a:p>
          <a:p>
            <a:r>
              <a:rPr lang="en-US"/>
              <a:t>You have a live image on the left; you can switch to a snap mode with the button just under it and save an image.</a:t>
            </a:r>
          </a:p>
          <a:p>
            <a:r>
              <a:rPr lang="en-US"/>
              <a:t/>
            </a:r>
          </a:p>
          <a:p>
            <a:r>
              <a:rPr lang="en-US"/>
              <a:t>And, thanks to the scan part, the software knows where all the worms are. So you can just click on the arrow buttons to go to the next worm, or the previous one. All of this can be used in a lot of contexts, even if you don't want to search for synapse mutations.</a:t>
            </a:r>
          </a:p>
          <a:p>
            <a:r>
              <a:rPr lang="en-US"/>
              <a:t>In the case of mutation detection, you just have to click on this button and a few seconds later, you get a probability of having a mutation. You can also count how many worms with a mutation you have; it’s just a counter, so you can use it for anything.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 this page, you can also adjust the contrast using the histogram. On the Nikon microscope—and only on this one—you can click on the live image, and the microscope will move to center the point you clicked. Before clicking, you just have to tell the software which objective you are using in this box. Because right now, you can do whatever you want: if you want to zoom in, go ahead!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have three other pages. I will not talk about the length analysis page, as it’s not working for now.</a:t>
            </a:r>
          </a:p>
          <a:p>
            <a:r>
              <a:rPr lang="en-US"/>
              <a:t/>
            </a:r>
          </a:p>
          <a:p>
            <a:r>
              <a:rPr lang="en-US"/>
              <a:t>First, the model training page. As I told you, there is nothing magical. The model for synapse mutation detection was trained on a dataset with a specific mutation. If images are too different, the model won't work. To let you use it even when I am gone, you can use this page to create your own new AI models. I tried to create something simple so you don't have to think too much about it.</a:t>
            </a:r>
          </a:p>
          <a:p>
            <a:r>
              <a:rPr lang="en-US"/>
              <a:t>All you have to do is take a lot of images of the mutation you are looking at—more than a hundred—and put the mutant images in this folder and the wild-type images in that folder. Choose a name for your new model and click on the training button. That’s it! The computer will then work for a few hours, and at the end, you get a new model that you can select in this menu. The more images you have, the more precise your model will be.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Then you have a configuration page. If you have a new objective, you can add it to the list. You can also change the size of the scan if you want to scan a bigger plate. Earlier, I showed you a scan that was a square, but if you want to scan a rectangle, you just have to change it in the parameter panel.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One last thing: to use it, you only have to click on this icon on the desktop. You have to wait until the camera is on, and the launch can take 15-20 seconds. So don't worry if nothing happens just after you click!</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7.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0.jpeg" Type="http://schemas.openxmlformats.org/officeDocument/2006/relationships/image"/><Relationship Id="rId4" Target="../media/image4.pn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11.pn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 Id="rId5" Target="../media/image11.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 Id="rId5" Target="../media/image11.png" Type="http://schemas.openxmlformats.org/officeDocument/2006/relationships/image"/><Relationship Id="rId6"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 Id="rId5" Target="../media/image11.png" Type="http://schemas.openxmlformats.org/officeDocument/2006/relationships/image"/><Relationship Id="rId6"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 Id="rId5" Target="../media/image12.png" Type="http://schemas.openxmlformats.org/officeDocument/2006/relationships/image"/><Relationship Id="rId6" Target="../media/image11.png" Type="http://schemas.openxmlformats.org/officeDocument/2006/relationships/image"/><Relationship Id="rId7" Target="../media/image4.pn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3.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4.jpeg" Type="http://schemas.openxmlformats.org/officeDocument/2006/relationships/image"/><Relationship Id="rId4" Target="../media/image4.png" Type="http://schemas.openxmlformats.org/officeDocument/2006/relationships/image"/><Relationship Id="rId5" Target="../media/image15.png" Type="http://schemas.openxmlformats.org/officeDocument/2006/relationships/image"/><Relationship Id="rId6" Target="../media/image16.jpeg" Type="http://schemas.openxmlformats.org/officeDocument/2006/relationships/image"/><Relationship Id="rId7" Target="../media/image10.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7.jpeg" Type="http://schemas.openxmlformats.org/officeDocument/2006/relationships/image"/><Relationship Id="rId4"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73655C"/>
        </a:solidFill>
      </p:bgPr>
    </p:bg>
    <p:spTree>
      <p:nvGrpSpPr>
        <p:cNvPr id="1" name=""/>
        <p:cNvGrpSpPr/>
        <p:nvPr/>
      </p:nvGrpSpPr>
      <p:grpSpPr>
        <a:xfrm>
          <a:off x="0" y="0"/>
          <a:ext cx="0" cy="0"/>
          <a:chOff x="0" y="0"/>
          <a:chExt cx="0" cy="0"/>
        </a:xfrm>
      </p:grpSpPr>
      <p:sp>
        <p:nvSpPr>
          <p:cNvPr name="Freeform 2" id="2"/>
          <p:cNvSpPr/>
          <p:nvPr/>
        </p:nvSpPr>
        <p:spPr>
          <a:xfrm flipH="false" flipV="false" rot="0">
            <a:off x="3761579" y="2779957"/>
            <a:ext cx="10764842" cy="5783508"/>
          </a:xfrm>
          <a:custGeom>
            <a:avLst/>
            <a:gdLst/>
            <a:ahLst/>
            <a:cxnLst/>
            <a:rect r="r" b="b" t="t" l="l"/>
            <a:pathLst>
              <a:path h="5783508" w="10764842">
                <a:moveTo>
                  <a:pt x="0" y="0"/>
                </a:moveTo>
                <a:lnTo>
                  <a:pt x="10764842" y="0"/>
                </a:lnTo>
                <a:lnTo>
                  <a:pt x="10764842" y="5783508"/>
                </a:lnTo>
                <a:lnTo>
                  <a:pt x="0" y="5783508"/>
                </a:lnTo>
                <a:lnTo>
                  <a:pt x="0" y="0"/>
                </a:lnTo>
                <a:close/>
              </a:path>
            </a:pathLst>
          </a:custGeom>
          <a:blipFill>
            <a:blip r:embed="rId3"/>
            <a:stretch>
              <a:fillRect l="0" t="0" r="0" b="0"/>
            </a:stretch>
          </a:blipFill>
        </p:spPr>
      </p:sp>
      <p:sp>
        <p:nvSpPr>
          <p:cNvPr name="TextBox 3" id="3"/>
          <p:cNvSpPr txBox="true"/>
          <p:nvPr/>
        </p:nvSpPr>
        <p:spPr>
          <a:xfrm rot="0">
            <a:off x="1291331" y="254018"/>
            <a:ext cx="15705338" cy="2201547"/>
          </a:xfrm>
          <a:prstGeom prst="rect">
            <a:avLst/>
          </a:prstGeom>
        </p:spPr>
        <p:txBody>
          <a:bodyPr anchor="t" rtlCol="false" tIns="0" lIns="0" bIns="0" rIns="0">
            <a:spAutoFit/>
          </a:bodyPr>
          <a:lstStyle/>
          <a:p>
            <a:pPr algn="ctr">
              <a:lnSpc>
                <a:spcPts val="8839"/>
              </a:lnSpc>
            </a:pPr>
            <a:r>
              <a:rPr lang="en-US" sz="6499" spc="292">
                <a:solidFill>
                  <a:srgbClr val="F1EEEB"/>
                </a:solidFill>
                <a:latin typeface="Anton"/>
                <a:ea typeface="Anton"/>
                <a:cs typeface="Anton"/>
                <a:sym typeface="Anton"/>
              </a:rPr>
              <a:t>USER GUIDE</a:t>
            </a:r>
          </a:p>
          <a:p>
            <a:pPr algn="ctr">
              <a:lnSpc>
                <a:spcPts val="8839"/>
              </a:lnSpc>
            </a:pPr>
            <a:r>
              <a:rPr lang="en-US" sz="6499" spc="292">
                <a:solidFill>
                  <a:srgbClr val="F1EEEB"/>
                </a:solidFill>
                <a:latin typeface="Anton"/>
                <a:ea typeface="Anton"/>
                <a:cs typeface="Anton"/>
                <a:sym typeface="Anton"/>
              </a:rPr>
              <a:t>FOR THE SCANNING AND ANALYSIS SOFTWARE</a:t>
            </a:r>
          </a:p>
        </p:txBody>
      </p:sp>
      <p:sp>
        <p:nvSpPr>
          <p:cNvPr name="TextBox 4" id="4"/>
          <p:cNvSpPr txBox="true"/>
          <p:nvPr/>
        </p:nvSpPr>
        <p:spPr>
          <a:xfrm rot="0">
            <a:off x="5836528" y="9040256"/>
            <a:ext cx="6614944" cy="302597"/>
          </a:xfrm>
          <a:prstGeom prst="rect">
            <a:avLst/>
          </a:prstGeom>
        </p:spPr>
        <p:txBody>
          <a:bodyPr anchor="t" rtlCol="false" tIns="0" lIns="0" bIns="0" rIns="0">
            <a:spAutoFit/>
          </a:bodyPr>
          <a:lstStyle/>
          <a:p>
            <a:pPr algn="ctr">
              <a:lnSpc>
                <a:spcPts val="1995"/>
              </a:lnSpc>
            </a:pPr>
            <a:r>
              <a:rPr lang="en-US" sz="3023" spc="136">
                <a:solidFill>
                  <a:srgbClr val="F1EEEB"/>
                </a:solidFill>
                <a:latin typeface="Anton"/>
                <a:ea typeface="Anton"/>
                <a:cs typeface="Anton"/>
                <a:sym typeface="Anton"/>
              </a:rPr>
              <a:t>ARTHUR SKOWRONEK</a:t>
            </a:r>
          </a:p>
        </p:txBody>
      </p:sp>
      <p:sp>
        <p:nvSpPr>
          <p:cNvPr name="TextBox 5" id="5"/>
          <p:cNvSpPr txBox="true"/>
          <p:nvPr/>
        </p:nvSpPr>
        <p:spPr>
          <a:xfrm rot="0">
            <a:off x="6372509" y="9765248"/>
            <a:ext cx="5542982" cy="209634"/>
          </a:xfrm>
          <a:prstGeom prst="rect">
            <a:avLst/>
          </a:prstGeom>
        </p:spPr>
        <p:txBody>
          <a:bodyPr anchor="t" rtlCol="false" tIns="0" lIns="0" bIns="0" rIns="0">
            <a:spAutoFit/>
          </a:bodyPr>
          <a:lstStyle/>
          <a:p>
            <a:pPr algn="ctr">
              <a:lnSpc>
                <a:spcPts val="1467"/>
              </a:lnSpc>
            </a:pPr>
            <a:r>
              <a:rPr lang="en-US" sz="2223" spc="100">
                <a:solidFill>
                  <a:srgbClr val="F1EEEB"/>
                </a:solidFill>
                <a:latin typeface="Anton"/>
                <a:ea typeface="Anton"/>
                <a:cs typeface="Anton"/>
                <a:sym typeface="Anton"/>
              </a:rPr>
              <a:t>arthur.skowronek13@gmail.com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1EEEB"/>
        </a:solidFill>
      </p:bgPr>
    </p:bg>
    <p:spTree>
      <p:nvGrpSpPr>
        <p:cNvPr id="1" name=""/>
        <p:cNvGrpSpPr/>
        <p:nvPr/>
      </p:nvGrpSpPr>
      <p:grpSpPr>
        <a:xfrm>
          <a:off x="0" y="0"/>
          <a:ext cx="0" cy="0"/>
          <a:chOff x="0" y="0"/>
          <a:chExt cx="0" cy="0"/>
        </a:xfrm>
      </p:grpSpPr>
      <p:sp>
        <p:nvSpPr>
          <p:cNvPr name="Freeform 2" id="2"/>
          <p:cNvSpPr/>
          <p:nvPr/>
        </p:nvSpPr>
        <p:spPr>
          <a:xfrm flipH="false" flipV="false" rot="0">
            <a:off x="0" y="432233"/>
            <a:ext cx="18288000" cy="9825392"/>
          </a:xfrm>
          <a:custGeom>
            <a:avLst/>
            <a:gdLst/>
            <a:ahLst/>
            <a:cxnLst/>
            <a:rect r="r" b="b" t="t" l="l"/>
            <a:pathLst>
              <a:path h="9825392" w="18288000">
                <a:moveTo>
                  <a:pt x="0" y="0"/>
                </a:moveTo>
                <a:lnTo>
                  <a:pt x="18288000" y="0"/>
                </a:lnTo>
                <a:lnTo>
                  <a:pt x="18288000" y="9825393"/>
                </a:lnTo>
                <a:lnTo>
                  <a:pt x="0" y="9825393"/>
                </a:lnTo>
                <a:lnTo>
                  <a:pt x="0" y="0"/>
                </a:lnTo>
                <a:close/>
              </a:path>
            </a:pathLst>
          </a:custGeom>
          <a:blipFill>
            <a:blip r:embed="rId3"/>
            <a:stretch>
              <a:fillRect l="0" t="0" r="0" b="0"/>
            </a:stretch>
          </a:blipFill>
        </p:spPr>
      </p:sp>
      <p:sp>
        <p:nvSpPr>
          <p:cNvPr name="Freeform 3" id="3"/>
          <p:cNvSpPr/>
          <p:nvPr/>
        </p:nvSpPr>
        <p:spPr>
          <a:xfrm flipH="false" flipV="false" rot="0">
            <a:off x="5595661" y="1466470"/>
            <a:ext cx="7117313" cy="7178669"/>
          </a:xfrm>
          <a:custGeom>
            <a:avLst/>
            <a:gdLst/>
            <a:ahLst/>
            <a:cxnLst/>
            <a:rect r="r" b="b" t="t" l="l"/>
            <a:pathLst>
              <a:path h="7178669" w="7117313">
                <a:moveTo>
                  <a:pt x="0" y="0"/>
                </a:moveTo>
                <a:lnTo>
                  <a:pt x="7117313" y="0"/>
                </a:lnTo>
                <a:lnTo>
                  <a:pt x="7117313" y="7178669"/>
                </a:lnTo>
                <a:lnTo>
                  <a:pt x="0" y="7178669"/>
                </a:lnTo>
                <a:lnTo>
                  <a:pt x="0" y="0"/>
                </a:lnTo>
                <a:close/>
              </a:path>
            </a:pathLst>
          </a:custGeom>
          <a:blipFill>
            <a:blip r:embed="rId4"/>
            <a:stretch>
              <a:fillRect l="0" t="0" r="0" b="0"/>
            </a:stretch>
          </a:blipFill>
        </p:spPr>
      </p:sp>
      <p:sp>
        <p:nvSpPr>
          <p:cNvPr name="Freeform 4" id="4"/>
          <p:cNvSpPr/>
          <p:nvPr/>
        </p:nvSpPr>
        <p:spPr>
          <a:xfrm flipH="false" flipV="false" rot="0">
            <a:off x="0" y="1252303"/>
            <a:ext cx="2191797" cy="8961683"/>
          </a:xfrm>
          <a:custGeom>
            <a:avLst/>
            <a:gdLst/>
            <a:ahLst/>
            <a:cxnLst/>
            <a:rect r="r" b="b" t="t" l="l"/>
            <a:pathLst>
              <a:path h="8961683" w="2191797">
                <a:moveTo>
                  <a:pt x="0" y="0"/>
                </a:moveTo>
                <a:lnTo>
                  <a:pt x="2191797" y="0"/>
                </a:lnTo>
                <a:lnTo>
                  <a:pt x="2191797" y="8961682"/>
                </a:lnTo>
                <a:lnTo>
                  <a:pt x="0" y="8961682"/>
                </a:lnTo>
                <a:lnTo>
                  <a:pt x="0" y="0"/>
                </a:lnTo>
                <a:close/>
              </a:path>
            </a:pathLst>
          </a:custGeom>
          <a:blipFill>
            <a:blip r:embed="rId5"/>
            <a:stretch>
              <a:fillRect l="0" t="-34665" r="-354584" b="-32865"/>
            </a:stretch>
          </a:blipFill>
          <a:ln w="38100" cap="sq">
            <a:solidFill>
              <a:srgbClr val="FF3131"/>
            </a:solidFill>
            <a:prstDash val="solid"/>
            <a:miter/>
          </a:ln>
        </p:spPr>
      </p:sp>
      <p:sp>
        <p:nvSpPr>
          <p:cNvPr name="Freeform 5" id="5"/>
          <p:cNvSpPr/>
          <p:nvPr/>
        </p:nvSpPr>
        <p:spPr>
          <a:xfrm flipH="false" flipV="false" rot="0">
            <a:off x="16298085" y="675306"/>
            <a:ext cx="706293" cy="576997"/>
          </a:xfrm>
          <a:custGeom>
            <a:avLst/>
            <a:gdLst/>
            <a:ahLst/>
            <a:cxnLst/>
            <a:rect r="r" b="b" t="t" l="l"/>
            <a:pathLst>
              <a:path h="576997" w="706293">
                <a:moveTo>
                  <a:pt x="0" y="0"/>
                </a:moveTo>
                <a:lnTo>
                  <a:pt x="706293" y="0"/>
                </a:lnTo>
                <a:lnTo>
                  <a:pt x="706293" y="576997"/>
                </a:lnTo>
                <a:lnTo>
                  <a:pt x="0" y="576997"/>
                </a:lnTo>
                <a:lnTo>
                  <a:pt x="0" y="0"/>
                </a:lnTo>
                <a:close/>
              </a:path>
            </a:pathLst>
          </a:custGeom>
          <a:blipFill>
            <a:blip r:embed="rId5"/>
            <a:stretch>
              <a:fillRect l="-100285" t="-83979" r="-276770" b="-695956"/>
            </a:stretch>
          </a:blipFill>
          <a:ln w="38100" cap="sq">
            <a:solidFill>
              <a:srgbClr val="FF3131"/>
            </a:solidFill>
            <a:prstDash val="solid"/>
            <a:miter/>
          </a:ln>
        </p:spPr>
      </p:sp>
      <p:grpSp>
        <p:nvGrpSpPr>
          <p:cNvPr name="Group 6" id="6"/>
          <p:cNvGrpSpPr/>
          <p:nvPr/>
        </p:nvGrpSpPr>
        <p:grpSpPr>
          <a:xfrm rot="0">
            <a:off x="9983271" y="610411"/>
            <a:ext cx="6044783" cy="706788"/>
            <a:chOff x="0" y="0"/>
            <a:chExt cx="8059710" cy="942383"/>
          </a:xfrm>
        </p:grpSpPr>
        <p:sp>
          <p:nvSpPr>
            <p:cNvPr name="Freeform 7" id="7"/>
            <p:cNvSpPr/>
            <p:nvPr/>
          </p:nvSpPr>
          <p:spPr>
            <a:xfrm flipH="false" flipV="false" rot="0">
              <a:off x="7029271" y="0"/>
              <a:ext cx="1030439" cy="942383"/>
            </a:xfrm>
            <a:custGeom>
              <a:avLst/>
              <a:gdLst/>
              <a:ahLst/>
              <a:cxnLst/>
              <a:rect r="r" b="b" t="t" l="l"/>
              <a:pathLst>
                <a:path h="942383" w="1030439">
                  <a:moveTo>
                    <a:pt x="0" y="0"/>
                  </a:moveTo>
                  <a:lnTo>
                    <a:pt x="1030439" y="0"/>
                  </a:lnTo>
                  <a:lnTo>
                    <a:pt x="1030439" y="942383"/>
                  </a:lnTo>
                  <a:lnTo>
                    <a:pt x="0" y="9423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0" y="151152"/>
              <a:ext cx="6689716" cy="563880"/>
            </a:xfrm>
            <a:prstGeom prst="rect">
              <a:avLst/>
            </a:prstGeom>
          </p:spPr>
          <p:txBody>
            <a:bodyPr anchor="t" rtlCol="false" tIns="0" lIns="0" bIns="0" rIns="0">
              <a:spAutoFit/>
            </a:bodyPr>
            <a:lstStyle/>
            <a:p>
              <a:pPr algn="ctr">
                <a:lnSpc>
                  <a:spcPts val="3600"/>
                </a:lnSpc>
                <a:spcBef>
                  <a:spcPct val="0"/>
                </a:spcBef>
              </a:pPr>
              <a:r>
                <a:rPr lang="en-US" sz="2400">
                  <a:solidFill>
                    <a:srgbClr val="F1EEEB"/>
                  </a:solidFill>
                  <a:latin typeface="Gotham"/>
                  <a:ea typeface="Gotham"/>
                  <a:cs typeface="Gotham"/>
                  <a:sym typeface="Gotham"/>
                </a:rPr>
                <a:t>Open and close the settings bar</a:t>
              </a:r>
            </a:p>
          </p:txBody>
        </p:sp>
      </p:grpSp>
      <p:grpSp>
        <p:nvGrpSpPr>
          <p:cNvPr name="Group 9" id="9"/>
          <p:cNvGrpSpPr/>
          <p:nvPr/>
        </p:nvGrpSpPr>
        <p:grpSpPr>
          <a:xfrm rot="0">
            <a:off x="12117293" y="7948605"/>
            <a:ext cx="2500154" cy="1387837"/>
            <a:chOff x="0" y="0"/>
            <a:chExt cx="3333538" cy="1850449"/>
          </a:xfrm>
        </p:grpSpPr>
        <p:sp>
          <p:nvSpPr>
            <p:cNvPr name="Freeform 10" id="10"/>
            <p:cNvSpPr/>
            <p:nvPr/>
          </p:nvSpPr>
          <p:spPr>
            <a:xfrm flipH="false" flipV="false" rot="-8702510">
              <a:off x="177022" y="210193"/>
              <a:ext cx="1030439" cy="942383"/>
            </a:xfrm>
            <a:custGeom>
              <a:avLst/>
              <a:gdLst/>
              <a:ahLst/>
              <a:cxnLst/>
              <a:rect r="r" b="b" t="t" l="l"/>
              <a:pathLst>
                <a:path h="942383" w="1030439">
                  <a:moveTo>
                    <a:pt x="0" y="0"/>
                  </a:moveTo>
                  <a:lnTo>
                    <a:pt x="1030439" y="0"/>
                  </a:lnTo>
                  <a:lnTo>
                    <a:pt x="1030439" y="942383"/>
                  </a:lnTo>
                  <a:lnTo>
                    <a:pt x="0" y="9423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692241" y="1286569"/>
              <a:ext cx="2641297" cy="563880"/>
            </a:xfrm>
            <a:prstGeom prst="rect">
              <a:avLst/>
            </a:prstGeom>
          </p:spPr>
          <p:txBody>
            <a:bodyPr anchor="t" rtlCol="false" tIns="0" lIns="0" bIns="0" rIns="0">
              <a:spAutoFit/>
            </a:bodyPr>
            <a:lstStyle/>
            <a:p>
              <a:pPr algn="ctr">
                <a:lnSpc>
                  <a:spcPts val="3600"/>
                </a:lnSpc>
                <a:spcBef>
                  <a:spcPct val="0"/>
                </a:spcBef>
              </a:pPr>
              <a:r>
                <a:rPr lang="en-US" sz="2400">
                  <a:solidFill>
                    <a:srgbClr val="F1EEEB"/>
                  </a:solidFill>
                  <a:latin typeface="Gotham"/>
                  <a:ea typeface="Gotham"/>
                  <a:cs typeface="Gotham"/>
                  <a:sym typeface="Gotham"/>
                </a:rPr>
                <a:t>Live image</a:t>
              </a:r>
            </a:p>
          </p:txBody>
        </p:sp>
      </p:grpSp>
      <p:grpSp>
        <p:nvGrpSpPr>
          <p:cNvPr name="Group 12" id="12"/>
          <p:cNvGrpSpPr/>
          <p:nvPr/>
        </p:nvGrpSpPr>
        <p:grpSpPr>
          <a:xfrm rot="0">
            <a:off x="4872267" y="8813654"/>
            <a:ext cx="2616424" cy="1280160"/>
            <a:chOff x="0" y="0"/>
            <a:chExt cx="3488565" cy="1706880"/>
          </a:xfrm>
        </p:grpSpPr>
        <p:sp>
          <p:nvSpPr>
            <p:cNvPr name="Freeform 13" id="13"/>
            <p:cNvSpPr/>
            <p:nvPr/>
          </p:nvSpPr>
          <p:spPr>
            <a:xfrm flipH="false" flipV="false" rot="0">
              <a:off x="2458126" y="382248"/>
              <a:ext cx="1030439" cy="942383"/>
            </a:xfrm>
            <a:custGeom>
              <a:avLst/>
              <a:gdLst/>
              <a:ahLst/>
              <a:cxnLst/>
              <a:rect r="r" b="b" t="t" l="l"/>
              <a:pathLst>
                <a:path h="942383" w="1030439">
                  <a:moveTo>
                    <a:pt x="0" y="0"/>
                  </a:moveTo>
                  <a:lnTo>
                    <a:pt x="1030439" y="0"/>
                  </a:lnTo>
                  <a:lnTo>
                    <a:pt x="1030439" y="942384"/>
                  </a:lnTo>
                  <a:lnTo>
                    <a:pt x="0" y="9423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0" y="-76200"/>
              <a:ext cx="2641297" cy="1783080"/>
            </a:xfrm>
            <a:prstGeom prst="rect">
              <a:avLst/>
            </a:prstGeom>
          </p:spPr>
          <p:txBody>
            <a:bodyPr anchor="t" rtlCol="false" tIns="0" lIns="0" bIns="0" rIns="0">
              <a:spAutoFit/>
            </a:bodyPr>
            <a:lstStyle/>
            <a:p>
              <a:pPr algn="ctr">
                <a:lnSpc>
                  <a:spcPts val="3600"/>
                </a:lnSpc>
                <a:spcBef>
                  <a:spcPct val="0"/>
                </a:spcBef>
              </a:pPr>
              <a:r>
                <a:rPr lang="en-US" sz="2400">
                  <a:solidFill>
                    <a:srgbClr val="F1EEEB"/>
                  </a:solidFill>
                  <a:latin typeface="Gotham"/>
                  <a:ea typeface="Gotham"/>
                  <a:cs typeface="Gotham"/>
                  <a:sym typeface="Gotham"/>
                </a:rPr>
                <a:t>Start the scanning program </a:t>
              </a:r>
            </a:p>
          </p:txBody>
        </p:sp>
      </p:grpSp>
      <p:grpSp>
        <p:nvGrpSpPr>
          <p:cNvPr name="Group 15" id="15"/>
          <p:cNvGrpSpPr/>
          <p:nvPr/>
        </p:nvGrpSpPr>
        <p:grpSpPr>
          <a:xfrm rot="0">
            <a:off x="2239560" y="2585629"/>
            <a:ext cx="2632707" cy="3673837"/>
            <a:chOff x="0" y="0"/>
            <a:chExt cx="3510277" cy="4898449"/>
          </a:xfrm>
        </p:grpSpPr>
        <p:sp>
          <p:nvSpPr>
            <p:cNvPr name="Freeform 16" id="16"/>
            <p:cNvSpPr/>
            <p:nvPr/>
          </p:nvSpPr>
          <p:spPr>
            <a:xfrm flipH="false" flipV="false" rot="-8702510">
              <a:off x="177022" y="210193"/>
              <a:ext cx="1030439" cy="942383"/>
            </a:xfrm>
            <a:custGeom>
              <a:avLst/>
              <a:gdLst/>
              <a:ahLst/>
              <a:cxnLst/>
              <a:rect r="r" b="b" t="t" l="l"/>
              <a:pathLst>
                <a:path h="942383" w="1030439">
                  <a:moveTo>
                    <a:pt x="0" y="0"/>
                  </a:moveTo>
                  <a:lnTo>
                    <a:pt x="1030439" y="0"/>
                  </a:lnTo>
                  <a:lnTo>
                    <a:pt x="1030439" y="942383"/>
                  </a:lnTo>
                  <a:lnTo>
                    <a:pt x="0" y="9423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550704" y="1286569"/>
              <a:ext cx="2959573" cy="3611880"/>
            </a:xfrm>
            <a:prstGeom prst="rect">
              <a:avLst/>
            </a:prstGeom>
          </p:spPr>
          <p:txBody>
            <a:bodyPr anchor="t" rtlCol="false" tIns="0" lIns="0" bIns="0" rIns="0">
              <a:spAutoFit/>
            </a:bodyPr>
            <a:lstStyle/>
            <a:p>
              <a:pPr algn="ctr">
                <a:lnSpc>
                  <a:spcPts val="3600"/>
                </a:lnSpc>
              </a:pPr>
              <a:r>
                <a:rPr lang="en-US" sz="2400">
                  <a:solidFill>
                    <a:srgbClr val="F1EEEB"/>
                  </a:solidFill>
                  <a:latin typeface="Gotham"/>
                  <a:ea typeface="Gotham"/>
                  <a:cs typeface="Gotham"/>
                  <a:sym typeface="Gotham"/>
                </a:rPr>
                <a:t>Menu section :</a:t>
              </a:r>
            </a:p>
            <a:p>
              <a:pPr algn="ctr">
                <a:lnSpc>
                  <a:spcPts val="3600"/>
                </a:lnSpc>
                <a:spcBef>
                  <a:spcPct val="0"/>
                </a:spcBef>
              </a:pPr>
              <a:r>
                <a:rPr lang="en-US" sz="2400">
                  <a:solidFill>
                    <a:srgbClr val="F1EEEB"/>
                  </a:solidFill>
                  <a:latin typeface="Gotham"/>
                  <a:ea typeface="Gotham"/>
                  <a:cs typeface="Gotham"/>
                  <a:sym typeface="Gotham"/>
                </a:rPr>
                <a:t>Click on the desired title to navigate to a different page.</a:t>
              </a:r>
            </a:p>
          </p:txBody>
        </p:sp>
      </p:grpSp>
      <p:sp>
        <p:nvSpPr>
          <p:cNvPr name="Freeform 18" id="18"/>
          <p:cNvSpPr/>
          <p:nvPr/>
        </p:nvSpPr>
        <p:spPr>
          <a:xfrm flipH="false" flipV="false" rot="0">
            <a:off x="7906773" y="9025255"/>
            <a:ext cx="2457685" cy="1188730"/>
          </a:xfrm>
          <a:custGeom>
            <a:avLst/>
            <a:gdLst/>
            <a:ahLst/>
            <a:cxnLst/>
            <a:rect r="r" b="b" t="t" l="l"/>
            <a:pathLst>
              <a:path h="1188730" w="2457685">
                <a:moveTo>
                  <a:pt x="0" y="0"/>
                </a:moveTo>
                <a:lnTo>
                  <a:pt x="2457685" y="0"/>
                </a:lnTo>
                <a:lnTo>
                  <a:pt x="2457685" y="1188730"/>
                </a:lnTo>
                <a:lnTo>
                  <a:pt x="0" y="1188730"/>
                </a:lnTo>
                <a:lnTo>
                  <a:pt x="0" y="0"/>
                </a:lnTo>
                <a:close/>
              </a:path>
            </a:pathLst>
          </a:custGeom>
          <a:blipFill>
            <a:blip r:embed="rId5"/>
            <a:stretch>
              <a:fillRect l="-5520" t="-228245" r="-145815" b="-454764"/>
            </a:stretch>
          </a:blipFill>
          <a:ln w="38100" cap="sq">
            <a:solidFill>
              <a:srgbClr val="FF3131"/>
            </a:solidFill>
            <a:prstDash val="solid"/>
            <a:miter/>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1EEEB"/>
        </a:solidFill>
      </p:bgPr>
    </p:bg>
    <p:spTree>
      <p:nvGrpSpPr>
        <p:cNvPr id="1" name=""/>
        <p:cNvGrpSpPr/>
        <p:nvPr/>
      </p:nvGrpSpPr>
      <p:grpSpPr>
        <a:xfrm>
          <a:off x="0" y="0"/>
          <a:ext cx="0" cy="0"/>
          <a:chOff x="0" y="0"/>
          <a:chExt cx="0" cy="0"/>
        </a:xfrm>
      </p:grpSpPr>
      <p:sp>
        <p:nvSpPr>
          <p:cNvPr name="Freeform 2" id="2"/>
          <p:cNvSpPr/>
          <p:nvPr/>
        </p:nvSpPr>
        <p:spPr>
          <a:xfrm flipH="false" flipV="false" rot="0">
            <a:off x="730490" y="1244214"/>
            <a:ext cx="16880454" cy="9042786"/>
          </a:xfrm>
          <a:custGeom>
            <a:avLst/>
            <a:gdLst/>
            <a:ahLst/>
            <a:cxnLst/>
            <a:rect r="r" b="b" t="t" l="l"/>
            <a:pathLst>
              <a:path h="9042786" w="16880454">
                <a:moveTo>
                  <a:pt x="0" y="0"/>
                </a:moveTo>
                <a:lnTo>
                  <a:pt x="16880454" y="0"/>
                </a:lnTo>
                <a:lnTo>
                  <a:pt x="16880454" y="9042786"/>
                </a:lnTo>
                <a:lnTo>
                  <a:pt x="0" y="9042786"/>
                </a:lnTo>
                <a:lnTo>
                  <a:pt x="0" y="0"/>
                </a:lnTo>
                <a:close/>
              </a:path>
            </a:pathLst>
          </a:custGeom>
          <a:blipFill>
            <a:blip r:embed="rId3"/>
            <a:stretch>
              <a:fillRect l="0" t="0" r="0" b="0"/>
            </a:stretch>
          </a:blipFill>
        </p:spPr>
      </p:sp>
      <p:sp>
        <p:nvSpPr>
          <p:cNvPr name="Freeform 3" id="3"/>
          <p:cNvSpPr/>
          <p:nvPr/>
        </p:nvSpPr>
        <p:spPr>
          <a:xfrm flipH="false" flipV="false" rot="0">
            <a:off x="5884983" y="2182663"/>
            <a:ext cx="6571468" cy="6628118"/>
          </a:xfrm>
          <a:custGeom>
            <a:avLst/>
            <a:gdLst/>
            <a:ahLst/>
            <a:cxnLst/>
            <a:rect r="r" b="b" t="t" l="l"/>
            <a:pathLst>
              <a:path h="6628118" w="6571468">
                <a:moveTo>
                  <a:pt x="0" y="0"/>
                </a:moveTo>
                <a:lnTo>
                  <a:pt x="6571468" y="0"/>
                </a:lnTo>
                <a:lnTo>
                  <a:pt x="6571468" y="6628119"/>
                </a:lnTo>
                <a:lnTo>
                  <a:pt x="0" y="6628119"/>
                </a:lnTo>
                <a:lnTo>
                  <a:pt x="0" y="0"/>
                </a:lnTo>
                <a:close/>
              </a:path>
            </a:pathLst>
          </a:custGeom>
          <a:blipFill>
            <a:blip r:embed="rId4"/>
            <a:stretch>
              <a:fillRect l="0" t="0" r="0" b="0"/>
            </a:stretch>
          </a:blipFill>
        </p:spPr>
      </p:sp>
      <p:sp>
        <p:nvSpPr>
          <p:cNvPr name="Freeform 4" id="4"/>
          <p:cNvSpPr/>
          <p:nvPr/>
        </p:nvSpPr>
        <p:spPr>
          <a:xfrm flipH="false" flipV="false" rot="0">
            <a:off x="7903113" y="9125123"/>
            <a:ext cx="2535208" cy="1161877"/>
          </a:xfrm>
          <a:custGeom>
            <a:avLst/>
            <a:gdLst/>
            <a:ahLst/>
            <a:cxnLst/>
            <a:rect r="r" b="b" t="t" l="l"/>
            <a:pathLst>
              <a:path h="1161877" w="2535208">
                <a:moveTo>
                  <a:pt x="0" y="0"/>
                </a:moveTo>
                <a:lnTo>
                  <a:pt x="2535208" y="0"/>
                </a:lnTo>
                <a:lnTo>
                  <a:pt x="2535208" y="1161877"/>
                </a:lnTo>
                <a:lnTo>
                  <a:pt x="0" y="1161877"/>
                </a:lnTo>
                <a:lnTo>
                  <a:pt x="0" y="0"/>
                </a:lnTo>
                <a:close/>
              </a:path>
            </a:pathLst>
          </a:custGeom>
          <a:blipFill>
            <a:blip r:embed="rId5"/>
            <a:stretch>
              <a:fillRect l="0" t="-554874" r="-179581" b="-264372"/>
            </a:stretch>
          </a:blipFill>
          <a:ln w="38100" cap="sq">
            <a:solidFill>
              <a:srgbClr val="FF3131"/>
            </a:solidFill>
            <a:prstDash val="solid"/>
            <a:miter/>
          </a:ln>
        </p:spPr>
      </p:sp>
      <p:grpSp>
        <p:nvGrpSpPr>
          <p:cNvPr name="Group 5" id="5"/>
          <p:cNvGrpSpPr/>
          <p:nvPr/>
        </p:nvGrpSpPr>
        <p:grpSpPr>
          <a:xfrm rot="0">
            <a:off x="10150033" y="2671861"/>
            <a:ext cx="5449104" cy="1280160"/>
            <a:chOff x="0" y="0"/>
            <a:chExt cx="7265473" cy="1706880"/>
          </a:xfrm>
        </p:grpSpPr>
        <p:sp>
          <p:nvSpPr>
            <p:cNvPr name="Freeform 6" id="6"/>
            <p:cNvSpPr/>
            <p:nvPr/>
          </p:nvSpPr>
          <p:spPr>
            <a:xfrm flipH="false" flipV="false" rot="0">
              <a:off x="6235033" y="382248"/>
              <a:ext cx="1030439" cy="942383"/>
            </a:xfrm>
            <a:custGeom>
              <a:avLst/>
              <a:gdLst/>
              <a:ahLst/>
              <a:cxnLst/>
              <a:rect r="r" b="b" t="t" l="l"/>
              <a:pathLst>
                <a:path h="942383" w="1030439">
                  <a:moveTo>
                    <a:pt x="0" y="0"/>
                  </a:moveTo>
                  <a:lnTo>
                    <a:pt x="1030440" y="0"/>
                  </a:lnTo>
                  <a:lnTo>
                    <a:pt x="1030440" y="942384"/>
                  </a:lnTo>
                  <a:lnTo>
                    <a:pt x="0" y="9423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0" y="-76200"/>
              <a:ext cx="5950244" cy="1783080"/>
            </a:xfrm>
            <a:prstGeom prst="rect">
              <a:avLst/>
            </a:prstGeom>
          </p:spPr>
          <p:txBody>
            <a:bodyPr anchor="t" rtlCol="false" tIns="0" lIns="0" bIns="0" rIns="0">
              <a:spAutoFit/>
            </a:bodyPr>
            <a:lstStyle/>
            <a:p>
              <a:pPr algn="ctr" marL="518160" indent="-259080" lvl="1">
                <a:lnSpc>
                  <a:spcPts val="3600"/>
                </a:lnSpc>
                <a:spcBef>
                  <a:spcPct val="0"/>
                </a:spcBef>
                <a:buAutoNum type="arabicPeriod" startAt="1"/>
              </a:pPr>
              <a:r>
                <a:rPr lang="en-US" sz="2400">
                  <a:solidFill>
                    <a:srgbClr val="F1EEEB"/>
                  </a:solidFill>
                  <a:latin typeface="Gotham"/>
                  <a:ea typeface="Gotham"/>
                  <a:cs typeface="Gotham"/>
                  <a:sym typeface="Gotham"/>
                </a:rPr>
                <a:t>Select the used objective (corresponds to the 3 dial for the Macrozoom)</a:t>
              </a:r>
            </a:p>
          </p:txBody>
        </p:sp>
      </p:grpSp>
      <p:sp>
        <p:nvSpPr>
          <p:cNvPr name="TextBox 8" id="8"/>
          <p:cNvSpPr txBox="true"/>
          <p:nvPr/>
        </p:nvSpPr>
        <p:spPr>
          <a:xfrm rot="0">
            <a:off x="6130737" y="3875821"/>
            <a:ext cx="3173867" cy="441960"/>
          </a:xfrm>
          <a:prstGeom prst="rect">
            <a:avLst/>
          </a:prstGeom>
        </p:spPr>
        <p:txBody>
          <a:bodyPr anchor="t" rtlCol="false" tIns="0" lIns="0" bIns="0" rIns="0">
            <a:spAutoFit/>
          </a:bodyPr>
          <a:lstStyle/>
          <a:p>
            <a:pPr algn="ctr" marL="518160" indent="-259080" lvl="1">
              <a:lnSpc>
                <a:spcPts val="3600"/>
              </a:lnSpc>
              <a:spcBef>
                <a:spcPct val="0"/>
              </a:spcBef>
              <a:buAutoNum type="arabicPeriod" startAt="1"/>
            </a:pPr>
            <a:r>
              <a:rPr lang="en-US" sz="2400">
                <a:solidFill>
                  <a:srgbClr val="F1EEEB"/>
                </a:solidFill>
                <a:latin typeface="Gotham"/>
                <a:ea typeface="Gotham"/>
                <a:cs typeface="Gotham"/>
                <a:sym typeface="Gotham"/>
              </a:rPr>
              <a:t>Focus the image</a:t>
            </a:r>
          </a:p>
        </p:txBody>
      </p:sp>
      <p:sp>
        <p:nvSpPr>
          <p:cNvPr name="TextBox 9" id="9"/>
          <p:cNvSpPr txBox="true"/>
          <p:nvPr/>
        </p:nvSpPr>
        <p:spPr>
          <a:xfrm rot="0">
            <a:off x="10607456" y="9264101"/>
            <a:ext cx="3173867" cy="441960"/>
          </a:xfrm>
          <a:prstGeom prst="rect">
            <a:avLst/>
          </a:prstGeom>
        </p:spPr>
        <p:txBody>
          <a:bodyPr anchor="t" rtlCol="false" tIns="0" lIns="0" bIns="0" rIns="0">
            <a:spAutoFit/>
          </a:bodyPr>
          <a:lstStyle/>
          <a:p>
            <a:pPr algn="ctr" marL="518160" indent="-259080" lvl="1">
              <a:lnSpc>
                <a:spcPts val="3600"/>
              </a:lnSpc>
              <a:spcBef>
                <a:spcPct val="0"/>
              </a:spcBef>
              <a:buAutoNum type="arabicPeriod" startAt="1"/>
            </a:pPr>
            <a:r>
              <a:rPr lang="en-US" sz="2400">
                <a:solidFill>
                  <a:srgbClr val="F1EEEB"/>
                </a:solidFill>
                <a:latin typeface="Gotham"/>
                <a:ea typeface="Gotham"/>
                <a:cs typeface="Gotham"/>
                <a:sym typeface="Gotham"/>
              </a:rPr>
              <a:t>Launch the scan</a:t>
            </a:r>
          </a:p>
        </p:txBody>
      </p:sp>
      <p:sp>
        <p:nvSpPr>
          <p:cNvPr name="TextBox 10" id="10"/>
          <p:cNvSpPr txBox="true"/>
          <p:nvPr/>
        </p:nvSpPr>
        <p:spPr>
          <a:xfrm rot="0">
            <a:off x="12558199" y="6077760"/>
            <a:ext cx="3142687" cy="1813560"/>
          </a:xfrm>
          <a:prstGeom prst="rect">
            <a:avLst/>
          </a:prstGeom>
        </p:spPr>
        <p:txBody>
          <a:bodyPr anchor="t" rtlCol="false" tIns="0" lIns="0" bIns="0" rIns="0">
            <a:spAutoFit/>
          </a:bodyPr>
          <a:lstStyle/>
          <a:p>
            <a:pPr algn="l" marL="518160" indent="-259080" lvl="1">
              <a:lnSpc>
                <a:spcPts val="3600"/>
              </a:lnSpc>
              <a:spcBef>
                <a:spcPct val="0"/>
              </a:spcBef>
              <a:buAutoNum type="arabicPeriod" startAt="1"/>
            </a:pPr>
            <a:r>
              <a:rPr lang="en-US" sz="2400">
                <a:solidFill>
                  <a:srgbClr val="F1EEEB"/>
                </a:solidFill>
                <a:latin typeface="Gotham"/>
                <a:ea typeface="Gotham"/>
                <a:cs typeface="Gotham"/>
                <a:sym typeface="Gotham"/>
              </a:rPr>
              <a:t>Move the microscope to the lower right corner</a:t>
            </a:r>
          </a:p>
        </p:txBody>
      </p:sp>
      <p:sp>
        <p:nvSpPr>
          <p:cNvPr name="Freeform 11" id="11"/>
          <p:cNvSpPr/>
          <p:nvPr/>
        </p:nvSpPr>
        <p:spPr>
          <a:xfrm flipH="false" flipV="false" rot="0">
            <a:off x="3125667" y="326301"/>
            <a:ext cx="6010140" cy="1835825"/>
          </a:xfrm>
          <a:custGeom>
            <a:avLst/>
            <a:gdLst/>
            <a:ahLst/>
            <a:cxnLst/>
            <a:rect r="r" b="b" t="t" l="l"/>
            <a:pathLst>
              <a:path h="1835825" w="6010140">
                <a:moveTo>
                  <a:pt x="0" y="0"/>
                </a:moveTo>
                <a:lnTo>
                  <a:pt x="6010141" y="0"/>
                </a:lnTo>
                <a:lnTo>
                  <a:pt x="6010141" y="1835825"/>
                </a:lnTo>
                <a:lnTo>
                  <a:pt x="0" y="18358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3526317" y="757485"/>
            <a:ext cx="5208840" cy="840107"/>
          </a:xfrm>
          <a:prstGeom prst="rect">
            <a:avLst/>
          </a:prstGeom>
        </p:spPr>
        <p:txBody>
          <a:bodyPr anchor="t" rtlCol="false" tIns="0" lIns="0" bIns="0" rIns="0">
            <a:spAutoFit/>
          </a:bodyPr>
          <a:lstStyle/>
          <a:p>
            <a:pPr algn="ctr">
              <a:lnSpc>
                <a:spcPts val="7049"/>
              </a:lnSpc>
              <a:spcBef>
                <a:spcPct val="0"/>
              </a:spcBef>
            </a:pPr>
            <a:r>
              <a:rPr lang="en-US" sz="4699">
                <a:solidFill>
                  <a:srgbClr val="F1EEEB"/>
                </a:solidFill>
                <a:latin typeface="Gotham"/>
                <a:ea typeface="Gotham"/>
                <a:cs typeface="Gotham"/>
                <a:sym typeface="Gotham"/>
              </a:rPr>
              <a:t>How to scan ?</a:t>
            </a:r>
          </a:p>
        </p:txBody>
      </p:sp>
      <p:sp>
        <p:nvSpPr>
          <p:cNvPr name="TextBox 13" id="13"/>
          <p:cNvSpPr txBox="true"/>
          <p:nvPr/>
        </p:nvSpPr>
        <p:spPr>
          <a:xfrm rot="0">
            <a:off x="2575451" y="2984353"/>
            <a:ext cx="3173867" cy="2270760"/>
          </a:xfrm>
          <a:prstGeom prst="rect">
            <a:avLst/>
          </a:prstGeom>
        </p:spPr>
        <p:txBody>
          <a:bodyPr anchor="t" rtlCol="false" tIns="0" lIns="0" bIns="0" rIns="0">
            <a:spAutoFit/>
          </a:bodyPr>
          <a:lstStyle/>
          <a:p>
            <a:pPr algn="l" marL="518160" indent="-259080" lvl="1">
              <a:lnSpc>
                <a:spcPts val="3600"/>
              </a:lnSpc>
              <a:buAutoNum type="arabicPeriod" startAt="1"/>
            </a:pPr>
            <a:r>
              <a:rPr lang="en-US" sz="2400">
                <a:solidFill>
                  <a:srgbClr val="F1EEEB"/>
                </a:solidFill>
                <a:latin typeface="Gotham"/>
                <a:ea typeface="Gotham"/>
                <a:cs typeface="Gotham"/>
                <a:sym typeface="Gotham"/>
              </a:rPr>
              <a:t>Use the right objective : </a:t>
            </a:r>
          </a:p>
          <a:p>
            <a:pPr algn="l" marL="518160" indent="-259080" lvl="1">
              <a:lnSpc>
                <a:spcPts val="3600"/>
              </a:lnSpc>
              <a:buFont typeface="Arial"/>
              <a:buChar char="•"/>
            </a:pPr>
            <a:r>
              <a:rPr lang="en-US" sz="2400">
                <a:solidFill>
                  <a:srgbClr val="F1EEEB"/>
                </a:solidFill>
                <a:latin typeface="Gotham"/>
                <a:ea typeface="Gotham"/>
                <a:cs typeface="Gotham"/>
                <a:sym typeface="Gotham"/>
              </a:rPr>
              <a:t>Macrozoom :    x2 with the dial 3</a:t>
            </a:r>
          </a:p>
          <a:p>
            <a:pPr algn="l" marL="518160" indent="-259080" lvl="1">
              <a:lnSpc>
                <a:spcPts val="3600"/>
              </a:lnSpc>
              <a:spcBef>
                <a:spcPct val="0"/>
              </a:spcBef>
              <a:buFont typeface="Arial"/>
              <a:buChar char="•"/>
            </a:pPr>
            <a:r>
              <a:rPr lang="en-US" sz="2400">
                <a:solidFill>
                  <a:srgbClr val="F1EEEB"/>
                </a:solidFill>
                <a:latin typeface="Gotham"/>
                <a:ea typeface="Gotham"/>
                <a:cs typeface="Gotham"/>
                <a:sym typeface="Gotham"/>
              </a:rPr>
              <a:t>Nikon : x4</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73655C"/>
        </a:solidFill>
      </p:bgPr>
    </p:bg>
    <p:spTree>
      <p:nvGrpSpPr>
        <p:cNvPr id="1" name=""/>
        <p:cNvGrpSpPr/>
        <p:nvPr/>
      </p:nvGrpSpPr>
      <p:grpSpPr>
        <a:xfrm>
          <a:off x="0" y="0"/>
          <a:ext cx="0" cy="0"/>
          <a:chOff x="0" y="0"/>
          <a:chExt cx="0" cy="0"/>
        </a:xfrm>
      </p:grpSpPr>
      <p:sp>
        <p:nvSpPr>
          <p:cNvPr name="TextBox 2" id="2"/>
          <p:cNvSpPr txBox="true"/>
          <p:nvPr/>
        </p:nvSpPr>
        <p:spPr>
          <a:xfrm rot="0">
            <a:off x="1291331" y="254018"/>
            <a:ext cx="15705338" cy="1087122"/>
          </a:xfrm>
          <a:prstGeom prst="rect">
            <a:avLst/>
          </a:prstGeom>
        </p:spPr>
        <p:txBody>
          <a:bodyPr anchor="t" rtlCol="false" tIns="0" lIns="0" bIns="0" rIns="0">
            <a:spAutoFit/>
          </a:bodyPr>
          <a:lstStyle/>
          <a:p>
            <a:pPr algn="ctr">
              <a:lnSpc>
                <a:spcPts val="8839"/>
              </a:lnSpc>
            </a:pPr>
            <a:r>
              <a:rPr lang="en-US" sz="6499" spc="292">
                <a:solidFill>
                  <a:srgbClr val="F1EEEB"/>
                </a:solidFill>
                <a:latin typeface="Anton"/>
                <a:ea typeface="Anton"/>
                <a:cs typeface="Anton"/>
                <a:sym typeface="Anton"/>
              </a:rPr>
              <a:t>NOTES</a:t>
            </a:r>
          </a:p>
        </p:txBody>
      </p:sp>
      <p:sp>
        <p:nvSpPr>
          <p:cNvPr name="Freeform 3" id="3"/>
          <p:cNvSpPr/>
          <p:nvPr/>
        </p:nvSpPr>
        <p:spPr>
          <a:xfrm flipH="false" flipV="false" rot="0">
            <a:off x="15515331" y="782807"/>
            <a:ext cx="2049215" cy="8721385"/>
          </a:xfrm>
          <a:custGeom>
            <a:avLst/>
            <a:gdLst/>
            <a:ahLst/>
            <a:cxnLst/>
            <a:rect r="r" b="b" t="t" l="l"/>
            <a:pathLst>
              <a:path h="8721385" w="2049215">
                <a:moveTo>
                  <a:pt x="0" y="0"/>
                </a:moveTo>
                <a:lnTo>
                  <a:pt x="2049215" y="0"/>
                </a:lnTo>
                <a:lnTo>
                  <a:pt x="2049215" y="8721386"/>
                </a:lnTo>
                <a:lnTo>
                  <a:pt x="0" y="8721386"/>
                </a:lnTo>
                <a:lnTo>
                  <a:pt x="0" y="0"/>
                </a:lnTo>
                <a:close/>
              </a:path>
            </a:pathLst>
          </a:custGeom>
          <a:blipFill>
            <a:blip r:embed="rId3"/>
            <a:stretch>
              <a:fillRect l="-692162" t="0" r="0" b="0"/>
            </a:stretch>
          </a:blipFill>
        </p:spPr>
      </p:sp>
      <p:sp>
        <p:nvSpPr>
          <p:cNvPr name="TextBox 4" id="4"/>
          <p:cNvSpPr txBox="true"/>
          <p:nvPr/>
        </p:nvSpPr>
        <p:spPr>
          <a:xfrm rot="0">
            <a:off x="1443954" y="2585085"/>
            <a:ext cx="9870684" cy="5031105"/>
          </a:xfrm>
          <a:prstGeom prst="rect">
            <a:avLst/>
          </a:prstGeom>
        </p:spPr>
        <p:txBody>
          <a:bodyPr anchor="t" rtlCol="false" tIns="0" lIns="0" bIns="0" rIns="0">
            <a:spAutoFit/>
          </a:bodyPr>
          <a:lstStyle/>
          <a:p>
            <a:pPr algn="l" marL="582928" indent="-291464" lvl="1">
              <a:lnSpc>
                <a:spcPts val="4049"/>
              </a:lnSpc>
              <a:buAutoNum type="arabicPeriod" startAt="1"/>
            </a:pPr>
            <a:r>
              <a:rPr lang="en-US" sz="2699">
                <a:solidFill>
                  <a:srgbClr val="F1EEEB"/>
                </a:solidFill>
                <a:latin typeface="Gotham"/>
                <a:ea typeface="Gotham"/>
                <a:cs typeface="Gotham"/>
                <a:sym typeface="Gotham"/>
              </a:rPr>
              <a:t> If you are looking at tiny worms : you can use a higher magnification to do the scan. </a:t>
            </a:r>
          </a:p>
          <a:p>
            <a:pPr algn="l">
              <a:lnSpc>
                <a:spcPts val="4049"/>
              </a:lnSpc>
            </a:pPr>
            <a:r>
              <a:rPr lang="en-US" sz="2699" u="sng">
                <a:solidFill>
                  <a:srgbClr val="F1EEEB"/>
                </a:solidFill>
                <a:latin typeface="Gotham"/>
                <a:ea typeface="Gotham"/>
                <a:cs typeface="Gotham"/>
                <a:sym typeface="Gotham"/>
              </a:rPr>
              <a:t>For the Macrozoom :</a:t>
            </a:r>
            <a:r>
              <a:rPr lang="en-US" sz="2699">
                <a:solidFill>
                  <a:srgbClr val="F1EEEB"/>
                </a:solidFill>
                <a:latin typeface="Gotham"/>
                <a:ea typeface="Gotham"/>
                <a:cs typeface="Gotham"/>
                <a:sym typeface="Gotham"/>
              </a:rPr>
              <a:t> ALWAYS use the x2 objective.      But you can change the dial.</a:t>
            </a:r>
          </a:p>
          <a:p>
            <a:pPr algn="l">
              <a:lnSpc>
                <a:spcPts val="4049"/>
              </a:lnSpc>
            </a:pPr>
            <a:r>
              <a:rPr lang="en-US" sz="2699" u="sng">
                <a:solidFill>
                  <a:srgbClr val="F1EEEB"/>
                </a:solidFill>
                <a:latin typeface="Gotham"/>
                <a:ea typeface="Gotham"/>
                <a:cs typeface="Gotham"/>
                <a:sym typeface="Gotham"/>
              </a:rPr>
              <a:t>For the Nikon :</a:t>
            </a:r>
            <a:r>
              <a:rPr lang="en-US" sz="2699">
                <a:solidFill>
                  <a:srgbClr val="F1EEEB"/>
                </a:solidFill>
                <a:latin typeface="Gotham"/>
                <a:ea typeface="Gotham"/>
                <a:cs typeface="Gotham"/>
                <a:sym typeface="Gotham"/>
              </a:rPr>
              <a:t> Use whichever objective you prefer</a:t>
            </a:r>
          </a:p>
          <a:p>
            <a:pPr algn="l">
              <a:lnSpc>
                <a:spcPts val="4049"/>
              </a:lnSpc>
            </a:pPr>
            <a:r>
              <a:rPr lang="en-US" sz="2699" u="sng">
                <a:solidFill>
                  <a:srgbClr val="F1EEEB"/>
                </a:solidFill>
                <a:latin typeface="Gotham"/>
                <a:ea typeface="Gotham"/>
                <a:cs typeface="Gotham"/>
                <a:sym typeface="Gotham"/>
              </a:rPr>
              <a:t>In both cases :</a:t>
            </a:r>
            <a:r>
              <a:rPr lang="en-US" sz="2699">
                <a:solidFill>
                  <a:srgbClr val="F1EEEB"/>
                </a:solidFill>
                <a:latin typeface="Gotham"/>
                <a:ea typeface="Gotham"/>
                <a:cs typeface="Gotham"/>
                <a:sym typeface="Gotham"/>
              </a:rPr>
              <a:t> Don’t forget to update the value in the parameters panel in “Scan Objective”</a:t>
            </a:r>
          </a:p>
          <a:p>
            <a:pPr algn="l">
              <a:lnSpc>
                <a:spcPts val="4049"/>
              </a:lnSpc>
            </a:pPr>
          </a:p>
          <a:p>
            <a:pPr algn="l" marL="582928" indent="-291464" lvl="1">
              <a:lnSpc>
                <a:spcPts val="4049"/>
              </a:lnSpc>
              <a:spcBef>
                <a:spcPct val="0"/>
              </a:spcBef>
              <a:buAutoNum type="arabicPeriod" startAt="1"/>
            </a:pPr>
            <a:r>
              <a:rPr lang="en-US" sz="2699">
                <a:solidFill>
                  <a:srgbClr val="F1EEEB"/>
                </a:solidFill>
                <a:latin typeface="Gotham"/>
                <a:ea typeface="Gotham"/>
                <a:cs typeface="Gotham"/>
                <a:sym typeface="Gotham"/>
              </a:rPr>
              <a:t>You can set the scan shape to either square or rectangle.</a:t>
            </a:r>
          </a:p>
        </p:txBody>
      </p:sp>
      <p:grpSp>
        <p:nvGrpSpPr>
          <p:cNvPr name="Group 5" id="5"/>
          <p:cNvGrpSpPr/>
          <p:nvPr/>
        </p:nvGrpSpPr>
        <p:grpSpPr>
          <a:xfrm rot="0">
            <a:off x="12134132" y="2610906"/>
            <a:ext cx="3227592" cy="706788"/>
            <a:chOff x="0" y="0"/>
            <a:chExt cx="4303456" cy="942383"/>
          </a:xfrm>
        </p:grpSpPr>
        <p:sp>
          <p:nvSpPr>
            <p:cNvPr name="Freeform 6" id="6"/>
            <p:cNvSpPr/>
            <p:nvPr/>
          </p:nvSpPr>
          <p:spPr>
            <a:xfrm flipH="false" flipV="false" rot="0">
              <a:off x="3273016" y="0"/>
              <a:ext cx="1030439" cy="942383"/>
            </a:xfrm>
            <a:custGeom>
              <a:avLst/>
              <a:gdLst/>
              <a:ahLst/>
              <a:cxnLst/>
              <a:rect r="r" b="b" t="t" l="l"/>
              <a:pathLst>
                <a:path h="942383" w="1030439">
                  <a:moveTo>
                    <a:pt x="0" y="0"/>
                  </a:moveTo>
                  <a:lnTo>
                    <a:pt x="1030440" y="0"/>
                  </a:lnTo>
                  <a:lnTo>
                    <a:pt x="1030440" y="942383"/>
                  </a:lnTo>
                  <a:lnTo>
                    <a:pt x="0" y="9423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0" y="151152"/>
              <a:ext cx="3463055" cy="563880"/>
            </a:xfrm>
            <a:prstGeom prst="rect">
              <a:avLst/>
            </a:prstGeom>
          </p:spPr>
          <p:txBody>
            <a:bodyPr anchor="t" rtlCol="false" tIns="0" lIns="0" bIns="0" rIns="0">
              <a:spAutoFit/>
            </a:bodyPr>
            <a:lstStyle/>
            <a:p>
              <a:pPr algn="ctr">
                <a:lnSpc>
                  <a:spcPts val="3600"/>
                </a:lnSpc>
                <a:spcBef>
                  <a:spcPct val="0"/>
                </a:spcBef>
              </a:pPr>
              <a:r>
                <a:rPr lang="en-US" sz="2400">
                  <a:solidFill>
                    <a:srgbClr val="F1EEEB"/>
                  </a:solidFill>
                  <a:latin typeface="Gotham"/>
                  <a:ea typeface="Gotham"/>
                  <a:cs typeface="Gotham"/>
                  <a:sym typeface="Gotham"/>
                </a:rPr>
                <a:t>Scan shape :</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1EEEB"/>
        </a:solidFill>
      </p:bgPr>
    </p:bg>
    <p:spTree>
      <p:nvGrpSpPr>
        <p:cNvPr id="1" name=""/>
        <p:cNvGrpSpPr/>
        <p:nvPr/>
      </p:nvGrpSpPr>
      <p:grpSpPr>
        <a:xfrm>
          <a:off x="0" y="0"/>
          <a:ext cx="0" cy="0"/>
          <a:chOff x="0" y="0"/>
          <a:chExt cx="0" cy="0"/>
        </a:xfrm>
      </p:grpSpPr>
      <p:sp>
        <p:nvSpPr>
          <p:cNvPr name="Freeform 2" id="2"/>
          <p:cNvSpPr/>
          <p:nvPr/>
        </p:nvSpPr>
        <p:spPr>
          <a:xfrm flipH="false" flipV="false" rot="0">
            <a:off x="0" y="245099"/>
            <a:ext cx="18288000" cy="9796803"/>
          </a:xfrm>
          <a:custGeom>
            <a:avLst/>
            <a:gdLst/>
            <a:ahLst/>
            <a:cxnLst/>
            <a:rect r="r" b="b" t="t" l="l"/>
            <a:pathLst>
              <a:path h="9796803" w="18288000">
                <a:moveTo>
                  <a:pt x="0" y="0"/>
                </a:moveTo>
                <a:lnTo>
                  <a:pt x="18288000" y="0"/>
                </a:lnTo>
                <a:lnTo>
                  <a:pt x="18288000" y="9796802"/>
                </a:lnTo>
                <a:lnTo>
                  <a:pt x="0" y="9796802"/>
                </a:lnTo>
                <a:lnTo>
                  <a:pt x="0" y="0"/>
                </a:lnTo>
                <a:close/>
              </a:path>
            </a:pathLst>
          </a:custGeom>
          <a:blipFill>
            <a:blip r:embed="rId3"/>
            <a:stretch>
              <a:fillRect l="0" t="0" r="0" b="0"/>
            </a:stretch>
          </a:blipFill>
        </p:spPr>
      </p:sp>
      <p:sp>
        <p:nvSpPr>
          <p:cNvPr name="Freeform 3" id="3"/>
          <p:cNvSpPr/>
          <p:nvPr/>
        </p:nvSpPr>
        <p:spPr>
          <a:xfrm flipH="false" flipV="false" rot="0">
            <a:off x="5699057" y="8812787"/>
            <a:ext cx="6803754" cy="1140062"/>
          </a:xfrm>
          <a:custGeom>
            <a:avLst/>
            <a:gdLst/>
            <a:ahLst/>
            <a:cxnLst/>
            <a:rect r="r" b="b" t="t" l="l"/>
            <a:pathLst>
              <a:path h="1140062" w="6803754">
                <a:moveTo>
                  <a:pt x="0" y="0"/>
                </a:moveTo>
                <a:lnTo>
                  <a:pt x="6803753" y="0"/>
                </a:lnTo>
                <a:lnTo>
                  <a:pt x="6803753" y="1140062"/>
                </a:lnTo>
                <a:lnTo>
                  <a:pt x="0" y="1140062"/>
                </a:lnTo>
                <a:lnTo>
                  <a:pt x="0" y="0"/>
                </a:lnTo>
                <a:close/>
              </a:path>
            </a:pathLst>
          </a:custGeom>
          <a:blipFill>
            <a:blip r:embed="rId4"/>
            <a:stretch>
              <a:fillRect l="0" t="-926836" r="-61017" b="-421149"/>
            </a:stretch>
          </a:blipFill>
          <a:ln w="38100" cap="sq">
            <a:solidFill>
              <a:srgbClr val="FF3131"/>
            </a:solidFill>
            <a:prstDash val="solid"/>
            <a:miter/>
          </a:ln>
        </p:spPr>
      </p:sp>
      <p:sp>
        <p:nvSpPr>
          <p:cNvPr name="Freeform 4" id="4"/>
          <p:cNvSpPr/>
          <p:nvPr/>
        </p:nvSpPr>
        <p:spPr>
          <a:xfrm flipH="false" flipV="false" rot="0">
            <a:off x="2528423" y="1417481"/>
            <a:ext cx="6010140" cy="1835825"/>
          </a:xfrm>
          <a:custGeom>
            <a:avLst/>
            <a:gdLst/>
            <a:ahLst/>
            <a:cxnLst/>
            <a:rect r="r" b="b" t="t" l="l"/>
            <a:pathLst>
              <a:path h="1835825" w="6010140">
                <a:moveTo>
                  <a:pt x="0" y="0"/>
                </a:moveTo>
                <a:lnTo>
                  <a:pt x="6010140" y="0"/>
                </a:lnTo>
                <a:lnTo>
                  <a:pt x="6010140" y="1835825"/>
                </a:lnTo>
                <a:lnTo>
                  <a:pt x="0" y="18358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3196515" y="7588771"/>
            <a:ext cx="3925359" cy="1356360"/>
          </a:xfrm>
          <a:prstGeom prst="rect">
            <a:avLst/>
          </a:prstGeom>
        </p:spPr>
        <p:txBody>
          <a:bodyPr anchor="t" rtlCol="false" tIns="0" lIns="0" bIns="0" rIns="0">
            <a:spAutoFit/>
          </a:bodyPr>
          <a:lstStyle/>
          <a:p>
            <a:pPr algn="ctr">
              <a:lnSpc>
                <a:spcPts val="3600"/>
              </a:lnSpc>
              <a:spcBef>
                <a:spcPct val="0"/>
              </a:spcBef>
            </a:pPr>
            <a:r>
              <a:rPr lang="en-US" sz="2400">
                <a:solidFill>
                  <a:srgbClr val="F1EEEB"/>
                </a:solidFill>
                <a:latin typeface="Gotham"/>
                <a:ea typeface="Gotham"/>
                <a:cs typeface="Gotham"/>
                <a:sym typeface="Gotham"/>
              </a:rPr>
              <a:t>Select the mode you want to use to clean the worm detection</a:t>
            </a:r>
          </a:p>
        </p:txBody>
      </p:sp>
      <p:sp>
        <p:nvSpPr>
          <p:cNvPr name="TextBox 6" id="6"/>
          <p:cNvSpPr txBox="true"/>
          <p:nvPr/>
        </p:nvSpPr>
        <p:spPr>
          <a:xfrm rot="0">
            <a:off x="12855025" y="1358646"/>
            <a:ext cx="3063311" cy="5324475"/>
          </a:xfrm>
          <a:prstGeom prst="rect">
            <a:avLst/>
          </a:prstGeom>
        </p:spPr>
        <p:txBody>
          <a:bodyPr anchor="t" rtlCol="false" tIns="0" lIns="0" bIns="0" rIns="0">
            <a:spAutoFit/>
          </a:bodyPr>
          <a:lstStyle/>
          <a:p>
            <a:pPr algn="l" marL="431802" indent="-215901" lvl="1">
              <a:lnSpc>
                <a:spcPts val="3000"/>
              </a:lnSpc>
              <a:buFont typeface="Arial"/>
              <a:buChar char="•"/>
            </a:pPr>
            <a:r>
              <a:rPr lang="en-US" b="true" sz="2000">
                <a:solidFill>
                  <a:srgbClr val="F1EEEB"/>
                </a:solidFill>
                <a:latin typeface="Gotham Bold"/>
                <a:ea typeface="Gotham Bold"/>
                <a:cs typeface="Gotham Bold"/>
                <a:sym typeface="Gotham Bold"/>
              </a:rPr>
              <a:t>Add worm : </a:t>
            </a:r>
            <a:r>
              <a:rPr lang="en-US" sz="2000">
                <a:solidFill>
                  <a:srgbClr val="F1EEEB"/>
                </a:solidFill>
                <a:latin typeface="Gotham"/>
                <a:ea typeface="Gotham"/>
                <a:cs typeface="Gotham"/>
                <a:sym typeface="Gotham"/>
              </a:rPr>
              <a:t>you only have to click on the image where you want to add a worm</a:t>
            </a:r>
          </a:p>
          <a:p>
            <a:pPr algn="l" marL="431802" indent="-215901" lvl="1">
              <a:lnSpc>
                <a:spcPts val="3000"/>
              </a:lnSpc>
              <a:buFont typeface="Arial"/>
              <a:buChar char="•"/>
            </a:pPr>
            <a:r>
              <a:rPr lang="en-US" b="true" sz="2000">
                <a:solidFill>
                  <a:srgbClr val="F1EEEB"/>
                </a:solidFill>
                <a:latin typeface="Gotham Bold"/>
                <a:ea typeface="Gotham Bold"/>
                <a:cs typeface="Gotham Bold"/>
                <a:sym typeface="Gotham Bold"/>
              </a:rPr>
              <a:t>Remove worm :</a:t>
            </a:r>
            <a:r>
              <a:rPr lang="en-US" sz="2000">
                <a:solidFill>
                  <a:srgbClr val="F1EEEB"/>
                </a:solidFill>
                <a:latin typeface="Gotham"/>
                <a:ea typeface="Gotham"/>
                <a:cs typeface="Gotham"/>
                <a:sym typeface="Gotham"/>
              </a:rPr>
              <a:t> click on the worm you want to delete. Or drag your mouse on the worms</a:t>
            </a:r>
          </a:p>
          <a:p>
            <a:pPr algn="l" marL="431802" indent="-215901" lvl="1">
              <a:lnSpc>
                <a:spcPts val="3000"/>
              </a:lnSpc>
              <a:spcBef>
                <a:spcPct val="0"/>
              </a:spcBef>
              <a:buFont typeface="Arial"/>
              <a:buChar char="•"/>
            </a:pPr>
            <a:r>
              <a:rPr lang="en-US" b="true" sz="2000">
                <a:solidFill>
                  <a:srgbClr val="F1EEEB"/>
                </a:solidFill>
                <a:latin typeface="Gotham Bold"/>
                <a:ea typeface="Gotham Bold"/>
                <a:cs typeface="Gotham Bold"/>
                <a:sym typeface="Gotham Bold"/>
              </a:rPr>
              <a:t>Move worm :</a:t>
            </a:r>
            <a:r>
              <a:rPr lang="en-US" sz="2000">
                <a:solidFill>
                  <a:srgbClr val="F1EEEB"/>
                </a:solidFill>
                <a:latin typeface="Gotham"/>
                <a:ea typeface="Gotham"/>
                <a:cs typeface="Gotham"/>
                <a:sym typeface="Gotham"/>
              </a:rPr>
              <a:t> click on a red rectangle and drag it to the desired position</a:t>
            </a:r>
          </a:p>
        </p:txBody>
      </p:sp>
      <p:sp>
        <p:nvSpPr>
          <p:cNvPr name="TextBox 7" id="7"/>
          <p:cNvSpPr txBox="true"/>
          <p:nvPr/>
        </p:nvSpPr>
        <p:spPr>
          <a:xfrm rot="0">
            <a:off x="2968801" y="1619113"/>
            <a:ext cx="5129385" cy="1356360"/>
          </a:xfrm>
          <a:prstGeom prst="rect">
            <a:avLst/>
          </a:prstGeom>
        </p:spPr>
        <p:txBody>
          <a:bodyPr anchor="t" rtlCol="false" tIns="0" lIns="0" bIns="0" rIns="0">
            <a:spAutoFit/>
          </a:bodyPr>
          <a:lstStyle/>
          <a:p>
            <a:pPr algn="ctr">
              <a:lnSpc>
                <a:spcPts val="3600"/>
              </a:lnSpc>
              <a:spcBef>
                <a:spcPct val="0"/>
              </a:spcBef>
            </a:pPr>
            <a:r>
              <a:rPr lang="en-US" sz="2400">
                <a:solidFill>
                  <a:srgbClr val="F1EEEB"/>
                </a:solidFill>
                <a:latin typeface="Gotham"/>
                <a:ea typeface="Gotham"/>
                <a:cs typeface="Gotham"/>
                <a:sym typeface="Gotham"/>
              </a:rPr>
              <a:t>After performing the scan : clean the results by adding undetected worms or removing errors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1EEEB"/>
        </a:solidFill>
      </p:bgPr>
    </p:bg>
    <p:spTree>
      <p:nvGrpSpPr>
        <p:cNvPr id="1" name=""/>
        <p:cNvGrpSpPr/>
        <p:nvPr/>
      </p:nvGrpSpPr>
      <p:grpSpPr>
        <a:xfrm>
          <a:off x="0" y="0"/>
          <a:ext cx="0" cy="0"/>
          <a:chOff x="0" y="0"/>
          <a:chExt cx="0" cy="0"/>
        </a:xfrm>
      </p:grpSpPr>
      <p:sp>
        <p:nvSpPr>
          <p:cNvPr name="Freeform 2" id="2"/>
          <p:cNvSpPr/>
          <p:nvPr/>
        </p:nvSpPr>
        <p:spPr>
          <a:xfrm flipH="false" flipV="false" rot="0">
            <a:off x="0" y="230804"/>
            <a:ext cx="18288000" cy="9825392"/>
          </a:xfrm>
          <a:custGeom>
            <a:avLst/>
            <a:gdLst/>
            <a:ahLst/>
            <a:cxnLst/>
            <a:rect r="r" b="b" t="t" l="l"/>
            <a:pathLst>
              <a:path h="9825392" w="18288000">
                <a:moveTo>
                  <a:pt x="0" y="0"/>
                </a:moveTo>
                <a:lnTo>
                  <a:pt x="18288000" y="0"/>
                </a:lnTo>
                <a:lnTo>
                  <a:pt x="18288000" y="9825392"/>
                </a:lnTo>
                <a:lnTo>
                  <a:pt x="0" y="9825392"/>
                </a:lnTo>
                <a:lnTo>
                  <a:pt x="0" y="0"/>
                </a:lnTo>
                <a:close/>
              </a:path>
            </a:pathLst>
          </a:custGeom>
          <a:blipFill>
            <a:blip r:embed="rId3"/>
            <a:stretch>
              <a:fillRect l="0" t="0" r="0" b="0"/>
            </a:stretch>
          </a:blipFill>
        </p:spPr>
      </p:sp>
      <p:sp>
        <p:nvSpPr>
          <p:cNvPr name="Freeform 3" id="3"/>
          <p:cNvSpPr/>
          <p:nvPr/>
        </p:nvSpPr>
        <p:spPr>
          <a:xfrm flipH="false" flipV="false" rot="0">
            <a:off x="2375423" y="1158587"/>
            <a:ext cx="8043771" cy="7707356"/>
          </a:xfrm>
          <a:custGeom>
            <a:avLst/>
            <a:gdLst/>
            <a:ahLst/>
            <a:cxnLst/>
            <a:rect r="r" b="b" t="t" l="l"/>
            <a:pathLst>
              <a:path h="7707356" w="8043771">
                <a:moveTo>
                  <a:pt x="0" y="0"/>
                </a:moveTo>
                <a:lnTo>
                  <a:pt x="8043770" y="0"/>
                </a:lnTo>
                <a:lnTo>
                  <a:pt x="8043770" y="7707356"/>
                </a:lnTo>
                <a:lnTo>
                  <a:pt x="0" y="7707356"/>
                </a:lnTo>
                <a:lnTo>
                  <a:pt x="0" y="0"/>
                </a:lnTo>
                <a:close/>
              </a:path>
            </a:pathLst>
          </a:custGeom>
          <a:blipFill>
            <a:blip r:embed="rId4"/>
            <a:stretch>
              <a:fillRect l="0" t="-2632" r="0" b="-2632"/>
            </a:stretch>
          </a:blipFill>
        </p:spPr>
      </p:sp>
      <p:sp>
        <p:nvSpPr>
          <p:cNvPr name="Freeform 4" id="4"/>
          <p:cNvSpPr/>
          <p:nvPr/>
        </p:nvSpPr>
        <p:spPr>
          <a:xfrm flipH="false" flipV="false" rot="0">
            <a:off x="10855861" y="5593231"/>
            <a:ext cx="5036942" cy="1083488"/>
          </a:xfrm>
          <a:custGeom>
            <a:avLst/>
            <a:gdLst/>
            <a:ahLst/>
            <a:cxnLst/>
            <a:rect r="r" b="b" t="t" l="l"/>
            <a:pathLst>
              <a:path h="1083488" w="5036942">
                <a:moveTo>
                  <a:pt x="0" y="0"/>
                </a:moveTo>
                <a:lnTo>
                  <a:pt x="5036942" y="0"/>
                </a:lnTo>
                <a:lnTo>
                  <a:pt x="5036942" y="1083488"/>
                </a:lnTo>
                <a:lnTo>
                  <a:pt x="0" y="1083488"/>
                </a:lnTo>
                <a:lnTo>
                  <a:pt x="0" y="0"/>
                </a:lnTo>
                <a:close/>
              </a:path>
            </a:pathLst>
          </a:custGeom>
          <a:blipFill>
            <a:blip r:embed="rId5"/>
            <a:stretch>
              <a:fillRect l="-10133" t="-30021" r="0" b="-641469"/>
            </a:stretch>
          </a:blipFill>
          <a:ln w="38100" cap="sq">
            <a:solidFill>
              <a:srgbClr val="FF3131"/>
            </a:solidFill>
            <a:prstDash val="solid"/>
            <a:miter/>
          </a:ln>
        </p:spPr>
      </p:sp>
      <p:sp>
        <p:nvSpPr>
          <p:cNvPr name="Freeform 5" id="5"/>
          <p:cNvSpPr/>
          <p:nvPr/>
        </p:nvSpPr>
        <p:spPr>
          <a:xfrm flipH="false" flipV="false" rot="0">
            <a:off x="10558928" y="1158587"/>
            <a:ext cx="5333875" cy="4125008"/>
          </a:xfrm>
          <a:custGeom>
            <a:avLst/>
            <a:gdLst/>
            <a:ahLst/>
            <a:cxnLst/>
            <a:rect r="r" b="b" t="t" l="l"/>
            <a:pathLst>
              <a:path h="4125008" w="5333875">
                <a:moveTo>
                  <a:pt x="0" y="0"/>
                </a:moveTo>
                <a:lnTo>
                  <a:pt x="5333875" y="0"/>
                </a:lnTo>
                <a:lnTo>
                  <a:pt x="5333875" y="4125008"/>
                </a:lnTo>
                <a:lnTo>
                  <a:pt x="0" y="4125008"/>
                </a:lnTo>
                <a:lnTo>
                  <a:pt x="0" y="0"/>
                </a:lnTo>
                <a:close/>
              </a:path>
            </a:pathLst>
          </a:custGeom>
          <a:blipFill>
            <a:blip r:embed="rId6"/>
            <a:stretch>
              <a:fillRect l="-32860" t="0" r="-32860" b="0"/>
            </a:stretch>
          </a:blipFill>
        </p:spPr>
      </p:sp>
      <p:grpSp>
        <p:nvGrpSpPr>
          <p:cNvPr name="Group 6" id="6"/>
          <p:cNvGrpSpPr/>
          <p:nvPr/>
        </p:nvGrpSpPr>
        <p:grpSpPr>
          <a:xfrm rot="0">
            <a:off x="10621644" y="2940283"/>
            <a:ext cx="5226868" cy="2203217"/>
            <a:chOff x="0" y="0"/>
            <a:chExt cx="6969158" cy="2937622"/>
          </a:xfrm>
        </p:grpSpPr>
        <p:sp>
          <p:nvSpPr>
            <p:cNvPr name="Freeform 7" id="7"/>
            <p:cNvSpPr/>
            <p:nvPr/>
          </p:nvSpPr>
          <p:spPr>
            <a:xfrm flipH="false" flipV="false" rot="-16200000">
              <a:off x="2957076" y="1951211"/>
              <a:ext cx="1030439" cy="942383"/>
            </a:xfrm>
            <a:custGeom>
              <a:avLst/>
              <a:gdLst/>
              <a:ahLst/>
              <a:cxnLst/>
              <a:rect r="r" b="b" t="t" l="l"/>
              <a:pathLst>
                <a:path h="942383" w="1030439">
                  <a:moveTo>
                    <a:pt x="1030439" y="942383"/>
                  </a:moveTo>
                  <a:lnTo>
                    <a:pt x="0" y="942383"/>
                  </a:lnTo>
                  <a:lnTo>
                    <a:pt x="0" y="0"/>
                  </a:lnTo>
                  <a:lnTo>
                    <a:pt x="1030439" y="0"/>
                  </a:lnTo>
                  <a:lnTo>
                    <a:pt x="1030439" y="942383"/>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0" y="-76200"/>
              <a:ext cx="6969158" cy="1783080"/>
            </a:xfrm>
            <a:prstGeom prst="rect">
              <a:avLst/>
            </a:prstGeom>
          </p:spPr>
          <p:txBody>
            <a:bodyPr anchor="t" rtlCol="false" tIns="0" lIns="0" bIns="0" rIns="0">
              <a:spAutoFit/>
            </a:bodyPr>
            <a:lstStyle/>
            <a:p>
              <a:pPr algn="ctr">
                <a:lnSpc>
                  <a:spcPts val="3600"/>
                </a:lnSpc>
                <a:spcBef>
                  <a:spcPct val="0"/>
                </a:spcBef>
              </a:pPr>
              <a:r>
                <a:rPr lang="en-US" sz="2400">
                  <a:solidFill>
                    <a:srgbClr val="F1EEEB"/>
                  </a:solidFill>
                  <a:latin typeface="Gotham"/>
                  <a:ea typeface="Gotham"/>
                  <a:cs typeface="Gotham"/>
                  <a:sym typeface="Gotham"/>
                </a:rPr>
                <a:t>Counter : Displays the ID of the worm being viewed over the total number of detected worms</a:t>
              </a:r>
            </a:p>
          </p:txBody>
        </p:sp>
      </p:grpSp>
      <p:sp>
        <p:nvSpPr>
          <p:cNvPr name="Freeform 9" id="9"/>
          <p:cNvSpPr/>
          <p:nvPr/>
        </p:nvSpPr>
        <p:spPr>
          <a:xfrm flipH="false" flipV="false" rot="0">
            <a:off x="12840987" y="5283595"/>
            <a:ext cx="815777" cy="309636"/>
          </a:xfrm>
          <a:custGeom>
            <a:avLst/>
            <a:gdLst/>
            <a:ahLst/>
            <a:cxnLst/>
            <a:rect r="r" b="b" t="t" l="l"/>
            <a:pathLst>
              <a:path h="309636" w="815777">
                <a:moveTo>
                  <a:pt x="0" y="0"/>
                </a:moveTo>
                <a:lnTo>
                  <a:pt x="815778" y="0"/>
                </a:lnTo>
                <a:lnTo>
                  <a:pt x="815778" y="309636"/>
                </a:lnTo>
                <a:lnTo>
                  <a:pt x="0" y="309636"/>
                </a:lnTo>
                <a:lnTo>
                  <a:pt x="0" y="0"/>
                </a:lnTo>
                <a:close/>
              </a:path>
            </a:pathLst>
          </a:custGeom>
          <a:blipFill>
            <a:blip r:embed="rId5"/>
            <a:stretch>
              <a:fillRect l="-12011" t="0" r="-22062" b="-432271"/>
            </a:stretch>
          </a:blipFill>
          <a:ln w="38100" cap="sq">
            <a:solidFill>
              <a:srgbClr val="FF3131"/>
            </a:solidFill>
            <a:prstDash val="solid"/>
            <a:miter/>
          </a:ln>
        </p:spPr>
      </p:sp>
      <p:sp>
        <p:nvSpPr>
          <p:cNvPr name="Freeform 10" id="10"/>
          <p:cNvSpPr/>
          <p:nvPr/>
        </p:nvSpPr>
        <p:spPr>
          <a:xfrm flipH="false" flipV="false" rot="0">
            <a:off x="10707395" y="6676719"/>
            <a:ext cx="5333875" cy="3184395"/>
          </a:xfrm>
          <a:custGeom>
            <a:avLst/>
            <a:gdLst/>
            <a:ahLst/>
            <a:cxnLst/>
            <a:rect r="r" b="b" t="t" l="l"/>
            <a:pathLst>
              <a:path h="3184395" w="5333875">
                <a:moveTo>
                  <a:pt x="0" y="0"/>
                </a:moveTo>
                <a:lnTo>
                  <a:pt x="5333875" y="0"/>
                </a:lnTo>
                <a:lnTo>
                  <a:pt x="5333875" y="3184395"/>
                </a:lnTo>
                <a:lnTo>
                  <a:pt x="0" y="3184395"/>
                </a:lnTo>
                <a:lnTo>
                  <a:pt x="0" y="0"/>
                </a:lnTo>
                <a:close/>
              </a:path>
            </a:pathLst>
          </a:custGeom>
          <a:blipFill>
            <a:blip r:embed="rId6"/>
            <a:stretch>
              <a:fillRect l="-32860" t="-29538" r="-32860" b="0"/>
            </a:stretch>
          </a:blipFill>
        </p:spPr>
      </p:sp>
      <p:sp>
        <p:nvSpPr>
          <p:cNvPr name="Freeform 11" id="11"/>
          <p:cNvSpPr/>
          <p:nvPr/>
        </p:nvSpPr>
        <p:spPr>
          <a:xfrm flipH="false" flipV="false" rot="0">
            <a:off x="7909524" y="8969438"/>
            <a:ext cx="1616861" cy="731494"/>
          </a:xfrm>
          <a:custGeom>
            <a:avLst/>
            <a:gdLst/>
            <a:ahLst/>
            <a:cxnLst/>
            <a:rect r="r" b="b" t="t" l="l"/>
            <a:pathLst>
              <a:path h="731494" w="1616861">
                <a:moveTo>
                  <a:pt x="0" y="0"/>
                </a:moveTo>
                <a:lnTo>
                  <a:pt x="1616861" y="0"/>
                </a:lnTo>
                <a:lnTo>
                  <a:pt x="1616861" y="731494"/>
                </a:lnTo>
                <a:lnTo>
                  <a:pt x="0" y="731494"/>
                </a:lnTo>
                <a:lnTo>
                  <a:pt x="0" y="0"/>
                </a:lnTo>
                <a:close/>
              </a:path>
            </a:pathLst>
          </a:custGeom>
          <a:blipFill>
            <a:blip r:embed="rId5"/>
            <a:stretch>
              <a:fillRect l="0" t="-57887" r="-12623" b="-217224"/>
            </a:stretch>
          </a:blipFill>
          <a:ln w="38100" cap="sq">
            <a:solidFill>
              <a:srgbClr val="FF3131"/>
            </a:solidFill>
            <a:prstDash val="solid"/>
            <a:miter/>
          </a:ln>
        </p:spPr>
      </p:sp>
      <p:sp>
        <p:nvSpPr>
          <p:cNvPr name="Freeform 12" id="12"/>
          <p:cNvSpPr/>
          <p:nvPr/>
        </p:nvSpPr>
        <p:spPr>
          <a:xfrm flipH="false" flipV="false" rot="0">
            <a:off x="16170596" y="9258300"/>
            <a:ext cx="2051723" cy="797896"/>
          </a:xfrm>
          <a:custGeom>
            <a:avLst/>
            <a:gdLst/>
            <a:ahLst/>
            <a:cxnLst/>
            <a:rect r="r" b="b" t="t" l="l"/>
            <a:pathLst>
              <a:path h="797896" w="2051723">
                <a:moveTo>
                  <a:pt x="0" y="0"/>
                </a:moveTo>
                <a:lnTo>
                  <a:pt x="2051722" y="0"/>
                </a:lnTo>
                <a:lnTo>
                  <a:pt x="2051722" y="797896"/>
                </a:lnTo>
                <a:lnTo>
                  <a:pt x="0" y="797896"/>
                </a:lnTo>
                <a:lnTo>
                  <a:pt x="0" y="0"/>
                </a:lnTo>
                <a:close/>
              </a:path>
            </a:pathLst>
          </a:custGeom>
          <a:blipFill>
            <a:blip r:embed="rId5"/>
            <a:stretch>
              <a:fillRect l="-382953" t="-564128" r="0" b="-1207188"/>
            </a:stretch>
          </a:blipFill>
          <a:ln w="38100" cap="sq">
            <a:solidFill>
              <a:srgbClr val="FF3131"/>
            </a:solidFill>
            <a:prstDash val="solid"/>
            <a:miter/>
          </a:ln>
        </p:spPr>
      </p:sp>
      <p:sp>
        <p:nvSpPr>
          <p:cNvPr name="Freeform 13" id="13"/>
          <p:cNvSpPr/>
          <p:nvPr/>
        </p:nvSpPr>
        <p:spPr>
          <a:xfrm flipH="false" flipV="false" rot="-10800000">
            <a:off x="10015857" y="8950460"/>
            <a:ext cx="772829" cy="706788"/>
          </a:xfrm>
          <a:custGeom>
            <a:avLst/>
            <a:gdLst/>
            <a:ahLst/>
            <a:cxnLst/>
            <a:rect r="r" b="b" t="t" l="l"/>
            <a:pathLst>
              <a:path h="706788" w="772829">
                <a:moveTo>
                  <a:pt x="0" y="0"/>
                </a:moveTo>
                <a:lnTo>
                  <a:pt x="772830" y="0"/>
                </a:lnTo>
                <a:lnTo>
                  <a:pt x="772830" y="706788"/>
                </a:lnTo>
                <a:lnTo>
                  <a:pt x="0" y="70678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4" id="14"/>
          <p:cNvSpPr txBox="true"/>
          <p:nvPr/>
        </p:nvSpPr>
        <p:spPr>
          <a:xfrm rot="0">
            <a:off x="10922841" y="8570595"/>
            <a:ext cx="4130350" cy="1327784"/>
          </a:xfrm>
          <a:prstGeom prst="rect">
            <a:avLst/>
          </a:prstGeom>
        </p:spPr>
        <p:txBody>
          <a:bodyPr anchor="t" rtlCol="false" tIns="0" lIns="0" bIns="0" rIns="0">
            <a:spAutoFit/>
          </a:bodyPr>
          <a:lstStyle/>
          <a:p>
            <a:pPr algn="ctr">
              <a:lnSpc>
                <a:spcPts val="2100"/>
              </a:lnSpc>
            </a:pPr>
            <a:r>
              <a:rPr lang="en-US" sz="1400">
                <a:solidFill>
                  <a:srgbClr val="F1EEEB"/>
                </a:solidFill>
                <a:latin typeface="Gotham"/>
                <a:ea typeface="Gotham"/>
                <a:cs typeface="Gotham"/>
                <a:sym typeface="Gotham"/>
              </a:rPr>
              <a:t>You can save an image regardless of the mode used (live or snap). The image will be saved in the folder defined here: </a:t>
            </a:r>
          </a:p>
          <a:p>
            <a:pPr algn="ctr">
              <a:lnSpc>
                <a:spcPts val="2100"/>
              </a:lnSpc>
              <a:spcBef>
                <a:spcPct val="0"/>
              </a:spcBef>
            </a:pPr>
            <a:r>
              <a:rPr lang="en-US" sz="1400">
                <a:solidFill>
                  <a:srgbClr val="F1EEEB"/>
                </a:solidFill>
                <a:latin typeface="Gotham"/>
                <a:ea typeface="Gotham"/>
                <a:cs typeface="Gotham"/>
                <a:sym typeface="Gotham"/>
              </a:rPr>
              <a:t>(the folder will be created automatically if it does not exist)</a:t>
            </a:r>
          </a:p>
        </p:txBody>
      </p:sp>
      <p:grpSp>
        <p:nvGrpSpPr>
          <p:cNvPr name="Group 15" id="15"/>
          <p:cNvGrpSpPr/>
          <p:nvPr/>
        </p:nvGrpSpPr>
        <p:grpSpPr>
          <a:xfrm rot="0">
            <a:off x="15187346" y="6553485"/>
            <a:ext cx="3034973" cy="1915328"/>
            <a:chOff x="0" y="0"/>
            <a:chExt cx="4046630" cy="2553770"/>
          </a:xfrm>
        </p:grpSpPr>
        <p:sp>
          <p:nvSpPr>
            <p:cNvPr name="Freeform 16" id="16"/>
            <p:cNvSpPr/>
            <p:nvPr/>
          </p:nvSpPr>
          <p:spPr>
            <a:xfrm flipH="false" flipV="false" rot="-8973366">
              <a:off x="167715" y="196094"/>
              <a:ext cx="1030439" cy="942383"/>
            </a:xfrm>
            <a:custGeom>
              <a:avLst/>
              <a:gdLst/>
              <a:ahLst/>
              <a:cxnLst/>
              <a:rect r="r" b="b" t="t" l="l"/>
              <a:pathLst>
                <a:path h="942383" w="1030439">
                  <a:moveTo>
                    <a:pt x="0" y="0"/>
                  </a:moveTo>
                  <a:lnTo>
                    <a:pt x="1030439" y="0"/>
                  </a:lnTo>
                  <a:lnTo>
                    <a:pt x="1030439" y="942383"/>
                  </a:lnTo>
                  <a:lnTo>
                    <a:pt x="0" y="94238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7" id="17"/>
            <p:cNvSpPr txBox="true"/>
            <p:nvPr/>
          </p:nvSpPr>
          <p:spPr>
            <a:xfrm rot="0">
              <a:off x="958361" y="48696"/>
              <a:ext cx="3088269" cy="2505074"/>
            </a:xfrm>
            <a:prstGeom prst="rect">
              <a:avLst/>
            </a:prstGeom>
          </p:spPr>
          <p:txBody>
            <a:bodyPr anchor="t" rtlCol="false" tIns="0" lIns="0" bIns="0" rIns="0">
              <a:spAutoFit/>
            </a:bodyPr>
            <a:lstStyle/>
            <a:p>
              <a:pPr algn="ctr">
                <a:lnSpc>
                  <a:spcPts val="3000"/>
                </a:lnSpc>
                <a:spcBef>
                  <a:spcPct val="0"/>
                </a:spcBef>
              </a:pPr>
              <a:r>
                <a:rPr lang="en-US" sz="2000">
                  <a:solidFill>
                    <a:srgbClr val="F1EEEB"/>
                  </a:solidFill>
                  <a:latin typeface="Gotham"/>
                  <a:ea typeface="Gotham"/>
                  <a:cs typeface="Gotham"/>
                  <a:sym typeface="Gotham"/>
                </a:rPr>
                <a:t>Tell the microscope to move to the next (or last) worm position</a:t>
              </a:r>
            </a:p>
          </p:txBody>
        </p:sp>
      </p:grpSp>
      <p:sp>
        <p:nvSpPr>
          <p:cNvPr name="Freeform 18" id="18"/>
          <p:cNvSpPr/>
          <p:nvPr/>
        </p:nvSpPr>
        <p:spPr>
          <a:xfrm flipH="false" flipV="false" rot="0">
            <a:off x="15187346" y="9154326"/>
            <a:ext cx="772829" cy="706788"/>
          </a:xfrm>
          <a:custGeom>
            <a:avLst/>
            <a:gdLst/>
            <a:ahLst/>
            <a:cxnLst/>
            <a:rect r="r" b="b" t="t" l="l"/>
            <a:pathLst>
              <a:path h="706788" w="772829">
                <a:moveTo>
                  <a:pt x="0" y="0"/>
                </a:moveTo>
                <a:lnTo>
                  <a:pt x="772829" y="0"/>
                </a:lnTo>
                <a:lnTo>
                  <a:pt x="772829" y="706788"/>
                </a:lnTo>
                <a:lnTo>
                  <a:pt x="0" y="70678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1EEEB"/>
        </a:solidFill>
      </p:bgPr>
    </p:bg>
    <p:spTree>
      <p:nvGrpSpPr>
        <p:cNvPr id="1" name=""/>
        <p:cNvGrpSpPr/>
        <p:nvPr/>
      </p:nvGrpSpPr>
      <p:grpSpPr>
        <a:xfrm>
          <a:off x="0" y="0"/>
          <a:ext cx="0" cy="0"/>
          <a:chOff x="0" y="0"/>
          <a:chExt cx="0" cy="0"/>
        </a:xfrm>
      </p:grpSpPr>
      <p:sp>
        <p:nvSpPr>
          <p:cNvPr name="Freeform 2" id="2"/>
          <p:cNvSpPr/>
          <p:nvPr/>
        </p:nvSpPr>
        <p:spPr>
          <a:xfrm flipH="false" flipV="false" rot="0">
            <a:off x="0" y="230804"/>
            <a:ext cx="18288000" cy="9825392"/>
          </a:xfrm>
          <a:custGeom>
            <a:avLst/>
            <a:gdLst/>
            <a:ahLst/>
            <a:cxnLst/>
            <a:rect r="r" b="b" t="t" l="l"/>
            <a:pathLst>
              <a:path h="9825392" w="18288000">
                <a:moveTo>
                  <a:pt x="0" y="0"/>
                </a:moveTo>
                <a:lnTo>
                  <a:pt x="18288000" y="0"/>
                </a:lnTo>
                <a:lnTo>
                  <a:pt x="18288000" y="9825392"/>
                </a:lnTo>
                <a:lnTo>
                  <a:pt x="0" y="9825392"/>
                </a:lnTo>
                <a:lnTo>
                  <a:pt x="0" y="0"/>
                </a:lnTo>
                <a:close/>
              </a:path>
            </a:pathLst>
          </a:custGeom>
          <a:blipFill>
            <a:blip r:embed="rId3"/>
            <a:stretch>
              <a:fillRect l="0" t="0" r="0" b="0"/>
            </a:stretch>
          </a:blipFill>
        </p:spPr>
      </p:sp>
      <p:sp>
        <p:nvSpPr>
          <p:cNvPr name="Freeform 3" id="3"/>
          <p:cNvSpPr/>
          <p:nvPr/>
        </p:nvSpPr>
        <p:spPr>
          <a:xfrm flipH="false" flipV="false" rot="0">
            <a:off x="2375423" y="1158587"/>
            <a:ext cx="8043771" cy="7707356"/>
          </a:xfrm>
          <a:custGeom>
            <a:avLst/>
            <a:gdLst/>
            <a:ahLst/>
            <a:cxnLst/>
            <a:rect r="r" b="b" t="t" l="l"/>
            <a:pathLst>
              <a:path h="7707356" w="8043771">
                <a:moveTo>
                  <a:pt x="0" y="0"/>
                </a:moveTo>
                <a:lnTo>
                  <a:pt x="8043770" y="0"/>
                </a:lnTo>
                <a:lnTo>
                  <a:pt x="8043770" y="7707356"/>
                </a:lnTo>
                <a:lnTo>
                  <a:pt x="0" y="7707356"/>
                </a:lnTo>
                <a:lnTo>
                  <a:pt x="0" y="0"/>
                </a:lnTo>
                <a:close/>
              </a:path>
            </a:pathLst>
          </a:custGeom>
          <a:blipFill>
            <a:blip r:embed="rId4"/>
            <a:stretch>
              <a:fillRect l="0" t="-2632" r="0" b="-2632"/>
            </a:stretch>
          </a:blipFill>
        </p:spPr>
      </p:sp>
      <p:sp>
        <p:nvSpPr>
          <p:cNvPr name="Freeform 4" id="4"/>
          <p:cNvSpPr/>
          <p:nvPr/>
        </p:nvSpPr>
        <p:spPr>
          <a:xfrm flipH="false" flipV="false" rot="0">
            <a:off x="10558928" y="1158587"/>
            <a:ext cx="5333875" cy="3274972"/>
          </a:xfrm>
          <a:custGeom>
            <a:avLst/>
            <a:gdLst/>
            <a:ahLst/>
            <a:cxnLst/>
            <a:rect r="r" b="b" t="t" l="l"/>
            <a:pathLst>
              <a:path h="3274972" w="5333875">
                <a:moveTo>
                  <a:pt x="0" y="0"/>
                </a:moveTo>
                <a:lnTo>
                  <a:pt x="5333875" y="0"/>
                </a:lnTo>
                <a:lnTo>
                  <a:pt x="5333875" y="3274972"/>
                </a:lnTo>
                <a:lnTo>
                  <a:pt x="0" y="3274972"/>
                </a:lnTo>
                <a:lnTo>
                  <a:pt x="0" y="0"/>
                </a:lnTo>
                <a:close/>
              </a:path>
            </a:pathLst>
          </a:custGeom>
          <a:blipFill>
            <a:blip r:embed="rId5"/>
            <a:stretch>
              <a:fillRect l="-32860" t="0" r="-32860" b="-25955"/>
            </a:stretch>
          </a:blipFill>
        </p:spPr>
      </p:sp>
      <p:sp>
        <p:nvSpPr>
          <p:cNvPr name="Freeform 5" id="5"/>
          <p:cNvSpPr/>
          <p:nvPr/>
        </p:nvSpPr>
        <p:spPr>
          <a:xfrm flipH="false" flipV="false" rot="0">
            <a:off x="10581938" y="5350075"/>
            <a:ext cx="5333875" cy="1311669"/>
          </a:xfrm>
          <a:custGeom>
            <a:avLst/>
            <a:gdLst/>
            <a:ahLst/>
            <a:cxnLst/>
            <a:rect r="r" b="b" t="t" l="l"/>
            <a:pathLst>
              <a:path h="1311669" w="5333875">
                <a:moveTo>
                  <a:pt x="0" y="0"/>
                </a:moveTo>
                <a:lnTo>
                  <a:pt x="5333876" y="0"/>
                </a:lnTo>
                <a:lnTo>
                  <a:pt x="5333876" y="1311669"/>
                </a:lnTo>
                <a:lnTo>
                  <a:pt x="0" y="1311669"/>
                </a:lnTo>
                <a:lnTo>
                  <a:pt x="0" y="0"/>
                </a:lnTo>
                <a:close/>
              </a:path>
            </a:pathLst>
          </a:custGeom>
          <a:blipFill>
            <a:blip r:embed="rId5"/>
            <a:stretch>
              <a:fillRect l="-40614" t="0" r="-40614" b="-243916"/>
            </a:stretch>
          </a:blipFill>
        </p:spPr>
      </p:sp>
      <p:sp>
        <p:nvSpPr>
          <p:cNvPr name="Freeform 6" id="6"/>
          <p:cNvSpPr/>
          <p:nvPr/>
        </p:nvSpPr>
        <p:spPr>
          <a:xfrm flipH="false" flipV="false" rot="0">
            <a:off x="10581938" y="7511148"/>
            <a:ext cx="5333875" cy="2545048"/>
          </a:xfrm>
          <a:custGeom>
            <a:avLst/>
            <a:gdLst/>
            <a:ahLst/>
            <a:cxnLst/>
            <a:rect r="r" b="b" t="t" l="l"/>
            <a:pathLst>
              <a:path h="2545048" w="5333875">
                <a:moveTo>
                  <a:pt x="0" y="0"/>
                </a:moveTo>
                <a:lnTo>
                  <a:pt x="5333876" y="0"/>
                </a:lnTo>
                <a:lnTo>
                  <a:pt x="5333876" y="2545048"/>
                </a:lnTo>
                <a:lnTo>
                  <a:pt x="0" y="2545048"/>
                </a:lnTo>
                <a:lnTo>
                  <a:pt x="0" y="0"/>
                </a:lnTo>
                <a:close/>
              </a:path>
            </a:pathLst>
          </a:custGeom>
          <a:blipFill>
            <a:blip r:embed="rId5"/>
            <a:stretch>
              <a:fillRect l="-40614" t="0" r="-40614" b="-77247"/>
            </a:stretch>
          </a:blipFill>
        </p:spPr>
      </p:sp>
      <p:grpSp>
        <p:nvGrpSpPr>
          <p:cNvPr name="Group 7" id="7"/>
          <p:cNvGrpSpPr/>
          <p:nvPr/>
        </p:nvGrpSpPr>
        <p:grpSpPr>
          <a:xfrm rot="0">
            <a:off x="15750347" y="6661744"/>
            <a:ext cx="2555735" cy="2448728"/>
            <a:chOff x="0" y="0"/>
            <a:chExt cx="3407647" cy="3264970"/>
          </a:xfrm>
        </p:grpSpPr>
        <p:sp>
          <p:nvSpPr>
            <p:cNvPr name="Freeform 8" id="8"/>
            <p:cNvSpPr/>
            <p:nvPr/>
          </p:nvSpPr>
          <p:spPr>
            <a:xfrm flipH="false" flipV="false" rot="-8973366">
              <a:off x="339458" y="196094"/>
              <a:ext cx="1030439" cy="942383"/>
            </a:xfrm>
            <a:custGeom>
              <a:avLst/>
              <a:gdLst/>
              <a:ahLst/>
              <a:cxnLst/>
              <a:rect r="r" b="b" t="t" l="l"/>
              <a:pathLst>
                <a:path h="942383" w="1030439">
                  <a:moveTo>
                    <a:pt x="0" y="0"/>
                  </a:moveTo>
                  <a:lnTo>
                    <a:pt x="1030440" y="0"/>
                  </a:lnTo>
                  <a:lnTo>
                    <a:pt x="1030440" y="942383"/>
                  </a:lnTo>
                  <a:lnTo>
                    <a:pt x="0" y="9423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0" y="1267896"/>
              <a:ext cx="3407647" cy="1997074"/>
            </a:xfrm>
            <a:prstGeom prst="rect">
              <a:avLst/>
            </a:prstGeom>
          </p:spPr>
          <p:txBody>
            <a:bodyPr anchor="t" rtlCol="false" tIns="0" lIns="0" bIns="0" rIns="0">
              <a:spAutoFit/>
            </a:bodyPr>
            <a:lstStyle/>
            <a:p>
              <a:pPr algn="ctr">
                <a:lnSpc>
                  <a:spcPts val="3000"/>
                </a:lnSpc>
                <a:spcBef>
                  <a:spcPct val="0"/>
                </a:spcBef>
              </a:pPr>
              <a:r>
                <a:rPr lang="en-US" sz="2000">
                  <a:solidFill>
                    <a:srgbClr val="F1EEEB"/>
                  </a:solidFill>
                  <a:latin typeface="Gotham"/>
                  <a:ea typeface="Gotham"/>
                  <a:cs typeface="Gotham"/>
                  <a:sym typeface="Gotham"/>
                </a:rPr>
                <a:t>Tell the microscope to move to the next (or last) worm with a mutation</a:t>
              </a:r>
            </a:p>
          </p:txBody>
        </p:sp>
      </p:grpSp>
      <p:sp>
        <p:nvSpPr>
          <p:cNvPr name="Freeform 10" id="10"/>
          <p:cNvSpPr/>
          <p:nvPr/>
        </p:nvSpPr>
        <p:spPr>
          <a:xfrm flipH="false" flipV="false" rot="0">
            <a:off x="10855861" y="6604278"/>
            <a:ext cx="5036942" cy="906871"/>
          </a:xfrm>
          <a:custGeom>
            <a:avLst/>
            <a:gdLst/>
            <a:ahLst/>
            <a:cxnLst/>
            <a:rect r="r" b="b" t="t" l="l"/>
            <a:pathLst>
              <a:path h="906871" w="5036942">
                <a:moveTo>
                  <a:pt x="0" y="0"/>
                </a:moveTo>
                <a:lnTo>
                  <a:pt x="5036942" y="0"/>
                </a:lnTo>
                <a:lnTo>
                  <a:pt x="5036942" y="906870"/>
                </a:lnTo>
                <a:lnTo>
                  <a:pt x="0" y="906870"/>
                </a:lnTo>
                <a:lnTo>
                  <a:pt x="0" y="0"/>
                </a:lnTo>
                <a:close/>
              </a:path>
            </a:pathLst>
          </a:custGeom>
          <a:blipFill>
            <a:blip r:embed="rId8"/>
            <a:stretch>
              <a:fillRect l="-10133" t="-55344" r="0" b="-766399"/>
            </a:stretch>
          </a:blipFill>
          <a:ln w="38100" cap="sq">
            <a:solidFill>
              <a:srgbClr val="FF3131"/>
            </a:solidFill>
            <a:prstDash val="solid"/>
            <a:miter/>
          </a:ln>
        </p:spPr>
      </p:sp>
      <p:sp>
        <p:nvSpPr>
          <p:cNvPr name="Freeform 11" id="11"/>
          <p:cNvSpPr/>
          <p:nvPr/>
        </p:nvSpPr>
        <p:spPr>
          <a:xfrm flipH="false" flipV="false" rot="0">
            <a:off x="10749614" y="4299526"/>
            <a:ext cx="5000733" cy="1050549"/>
          </a:xfrm>
          <a:custGeom>
            <a:avLst/>
            <a:gdLst/>
            <a:ahLst/>
            <a:cxnLst/>
            <a:rect r="r" b="b" t="t" l="l"/>
            <a:pathLst>
              <a:path h="1050549" w="5000733">
                <a:moveTo>
                  <a:pt x="0" y="0"/>
                </a:moveTo>
                <a:lnTo>
                  <a:pt x="5000733" y="0"/>
                </a:lnTo>
                <a:lnTo>
                  <a:pt x="5000733" y="1050549"/>
                </a:lnTo>
                <a:lnTo>
                  <a:pt x="0" y="1050549"/>
                </a:lnTo>
                <a:lnTo>
                  <a:pt x="0" y="0"/>
                </a:lnTo>
                <a:close/>
              </a:path>
            </a:pathLst>
          </a:custGeom>
          <a:blipFill>
            <a:blip r:embed="rId8"/>
            <a:stretch>
              <a:fillRect l="-89098" t="0" r="-75794" b="-1800017"/>
            </a:stretch>
          </a:blipFill>
          <a:ln w="38100" cap="sq">
            <a:solidFill>
              <a:srgbClr val="FF3131"/>
            </a:solidFill>
            <a:prstDash val="solid"/>
            <a:miter/>
          </a:ln>
        </p:spPr>
      </p:sp>
      <p:sp>
        <p:nvSpPr>
          <p:cNvPr name="TextBox 12" id="12"/>
          <p:cNvSpPr txBox="true"/>
          <p:nvPr/>
        </p:nvSpPr>
        <p:spPr>
          <a:xfrm rot="0">
            <a:off x="11184805" y="3404440"/>
            <a:ext cx="4130350" cy="674369"/>
          </a:xfrm>
          <a:prstGeom prst="rect">
            <a:avLst/>
          </a:prstGeom>
        </p:spPr>
        <p:txBody>
          <a:bodyPr anchor="t" rtlCol="false" tIns="0" lIns="0" bIns="0" rIns="0">
            <a:spAutoFit/>
          </a:bodyPr>
          <a:lstStyle/>
          <a:p>
            <a:pPr algn="ctr">
              <a:lnSpc>
                <a:spcPts val="2700"/>
              </a:lnSpc>
              <a:spcBef>
                <a:spcPct val="0"/>
              </a:spcBef>
            </a:pPr>
            <a:r>
              <a:rPr lang="en-US" sz="1800">
                <a:solidFill>
                  <a:srgbClr val="F1EEEB"/>
                </a:solidFill>
                <a:latin typeface="Gotham"/>
                <a:ea typeface="Gotham"/>
                <a:cs typeface="Gotham"/>
                <a:sym typeface="Gotham"/>
              </a:rPr>
              <a:t>You can tag the worm being viewed as having a mutation or not</a:t>
            </a:r>
          </a:p>
        </p:txBody>
      </p:sp>
      <p:sp>
        <p:nvSpPr>
          <p:cNvPr name="TextBox 13" id="13"/>
          <p:cNvSpPr txBox="true"/>
          <p:nvPr/>
        </p:nvSpPr>
        <p:spPr>
          <a:xfrm rot="0">
            <a:off x="10955152" y="5400120"/>
            <a:ext cx="4541427" cy="605789"/>
          </a:xfrm>
          <a:prstGeom prst="rect">
            <a:avLst/>
          </a:prstGeom>
        </p:spPr>
        <p:txBody>
          <a:bodyPr anchor="t" rtlCol="false" tIns="0" lIns="0" bIns="0" rIns="0">
            <a:spAutoFit/>
          </a:bodyPr>
          <a:lstStyle/>
          <a:p>
            <a:pPr algn="ctr">
              <a:lnSpc>
                <a:spcPts val="2400"/>
              </a:lnSpc>
              <a:spcBef>
                <a:spcPct val="0"/>
              </a:spcBef>
            </a:pPr>
            <a:r>
              <a:rPr lang="en-US" sz="1600">
                <a:solidFill>
                  <a:srgbClr val="F1EEEB"/>
                </a:solidFill>
                <a:latin typeface="Gotham"/>
                <a:ea typeface="Gotham"/>
                <a:cs typeface="Gotham"/>
                <a:sym typeface="Gotham"/>
              </a:rPr>
              <a:t>By hovering the info icon you can see the list of the ID of the worm being tag as Mutant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1EEEB"/>
        </a:solidFill>
      </p:bgPr>
    </p:bg>
    <p:spTree>
      <p:nvGrpSpPr>
        <p:cNvPr id="1" name=""/>
        <p:cNvGrpSpPr/>
        <p:nvPr/>
      </p:nvGrpSpPr>
      <p:grpSpPr>
        <a:xfrm>
          <a:off x="0" y="0"/>
          <a:ext cx="0" cy="0"/>
          <a:chOff x="0" y="0"/>
          <a:chExt cx="0" cy="0"/>
        </a:xfrm>
      </p:grpSpPr>
      <p:sp>
        <p:nvSpPr>
          <p:cNvPr name="Freeform 2" id="2"/>
          <p:cNvSpPr/>
          <p:nvPr/>
        </p:nvSpPr>
        <p:spPr>
          <a:xfrm flipH="false" flipV="false" rot="0">
            <a:off x="0" y="230804"/>
            <a:ext cx="18288000" cy="9825392"/>
          </a:xfrm>
          <a:custGeom>
            <a:avLst/>
            <a:gdLst/>
            <a:ahLst/>
            <a:cxnLst/>
            <a:rect r="r" b="b" t="t" l="l"/>
            <a:pathLst>
              <a:path h="9825392" w="18288000">
                <a:moveTo>
                  <a:pt x="0" y="0"/>
                </a:moveTo>
                <a:lnTo>
                  <a:pt x="18288000" y="0"/>
                </a:lnTo>
                <a:lnTo>
                  <a:pt x="18288000" y="9825392"/>
                </a:lnTo>
                <a:lnTo>
                  <a:pt x="0" y="9825392"/>
                </a:lnTo>
                <a:lnTo>
                  <a:pt x="0" y="0"/>
                </a:lnTo>
                <a:close/>
              </a:path>
            </a:pathLst>
          </a:custGeom>
          <a:blipFill>
            <a:blip r:embed="rId3"/>
            <a:stretch>
              <a:fillRect l="0" t="0" r="0" b="0"/>
            </a:stretch>
          </a:blipFill>
        </p:spPr>
      </p:sp>
      <p:sp>
        <p:nvSpPr>
          <p:cNvPr name="Freeform 3" id="3"/>
          <p:cNvSpPr/>
          <p:nvPr/>
        </p:nvSpPr>
        <p:spPr>
          <a:xfrm flipH="false" flipV="false" rot="0">
            <a:off x="2375423" y="1158587"/>
            <a:ext cx="8043771" cy="7707356"/>
          </a:xfrm>
          <a:custGeom>
            <a:avLst/>
            <a:gdLst/>
            <a:ahLst/>
            <a:cxnLst/>
            <a:rect r="r" b="b" t="t" l="l"/>
            <a:pathLst>
              <a:path h="7707356" w="8043771">
                <a:moveTo>
                  <a:pt x="0" y="0"/>
                </a:moveTo>
                <a:lnTo>
                  <a:pt x="8043770" y="0"/>
                </a:lnTo>
                <a:lnTo>
                  <a:pt x="8043770" y="7707356"/>
                </a:lnTo>
                <a:lnTo>
                  <a:pt x="0" y="7707356"/>
                </a:lnTo>
                <a:lnTo>
                  <a:pt x="0" y="0"/>
                </a:lnTo>
                <a:close/>
              </a:path>
            </a:pathLst>
          </a:custGeom>
          <a:blipFill>
            <a:blip r:embed="rId4"/>
            <a:stretch>
              <a:fillRect l="0" t="-2632" r="0" b="-2632"/>
            </a:stretch>
          </a:blipFill>
        </p:spPr>
      </p:sp>
      <p:sp>
        <p:nvSpPr>
          <p:cNvPr name="Freeform 4" id="4"/>
          <p:cNvSpPr/>
          <p:nvPr/>
        </p:nvSpPr>
        <p:spPr>
          <a:xfrm flipH="false" flipV="false" rot="0">
            <a:off x="10419193" y="4368424"/>
            <a:ext cx="5333875" cy="3274972"/>
          </a:xfrm>
          <a:custGeom>
            <a:avLst/>
            <a:gdLst/>
            <a:ahLst/>
            <a:cxnLst/>
            <a:rect r="r" b="b" t="t" l="l"/>
            <a:pathLst>
              <a:path h="3274972" w="5333875">
                <a:moveTo>
                  <a:pt x="0" y="0"/>
                </a:moveTo>
                <a:lnTo>
                  <a:pt x="5333876" y="0"/>
                </a:lnTo>
                <a:lnTo>
                  <a:pt x="5333876" y="3274971"/>
                </a:lnTo>
                <a:lnTo>
                  <a:pt x="0" y="3274971"/>
                </a:lnTo>
                <a:lnTo>
                  <a:pt x="0" y="0"/>
                </a:lnTo>
                <a:close/>
              </a:path>
            </a:pathLst>
          </a:custGeom>
          <a:blipFill>
            <a:blip r:embed="rId5"/>
            <a:stretch>
              <a:fillRect l="-32860" t="0" r="-32860" b="-25955"/>
            </a:stretch>
          </a:blipFill>
        </p:spPr>
      </p:sp>
      <p:sp>
        <p:nvSpPr>
          <p:cNvPr name="Freeform 5" id="5"/>
          <p:cNvSpPr/>
          <p:nvPr/>
        </p:nvSpPr>
        <p:spPr>
          <a:xfrm flipH="false" flipV="false" rot="0">
            <a:off x="10581938" y="5350075"/>
            <a:ext cx="5333875" cy="1311669"/>
          </a:xfrm>
          <a:custGeom>
            <a:avLst/>
            <a:gdLst/>
            <a:ahLst/>
            <a:cxnLst/>
            <a:rect r="r" b="b" t="t" l="l"/>
            <a:pathLst>
              <a:path h="1311669" w="5333875">
                <a:moveTo>
                  <a:pt x="0" y="0"/>
                </a:moveTo>
                <a:lnTo>
                  <a:pt x="5333876" y="0"/>
                </a:lnTo>
                <a:lnTo>
                  <a:pt x="5333876" y="1311669"/>
                </a:lnTo>
                <a:lnTo>
                  <a:pt x="0" y="1311669"/>
                </a:lnTo>
                <a:lnTo>
                  <a:pt x="0" y="0"/>
                </a:lnTo>
                <a:close/>
              </a:path>
            </a:pathLst>
          </a:custGeom>
          <a:blipFill>
            <a:blip r:embed="rId5"/>
            <a:stretch>
              <a:fillRect l="-40614" t="0" r="-40614" b="-243916"/>
            </a:stretch>
          </a:blipFill>
        </p:spPr>
      </p:sp>
      <p:sp>
        <p:nvSpPr>
          <p:cNvPr name="Freeform 6" id="6"/>
          <p:cNvSpPr/>
          <p:nvPr/>
        </p:nvSpPr>
        <p:spPr>
          <a:xfrm flipH="false" flipV="false" rot="0">
            <a:off x="10581938" y="7511148"/>
            <a:ext cx="5333875" cy="2545048"/>
          </a:xfrm>
          <a:custGeom>
            <a:avLst/>
            <a:gdLst/>
            <a:ahLst/>
            <a:cxnLst/>
            <a:rect r="r" b="b" t="t" l="l"/>
            <a:pathLst>
              <a:path h="2545048" w="5333875">
                <a:moveTo>
                  <a:pt x="0" y="0"/>
                </a:moveTo>
                <a:lnTo>
                  <a:pt x="5333876" y="0"/>
                </a:lnTo>
                <a:lnTo>
                  <a:pt x="5333876" y="2545048"/>
                </a:lnTo>
                <a:lnTo>
                  <a:pt x="0" y="2545048"/>
                </a:lnTo>
                <a:lnTo>
                  <a:pt x="0" y="0"/>
                </a:lnTo>
                <a:close/>
              </a:path>
            </a:pathLst>
          </a:custGeom>
          <a:blipFill>
            <a:blip r:embed="rId5"/>
            <a:stretch>
              <a:fillRect l="-40614" t="0" r="-40614" b="-77247"/>
            </a:stretch>
          </a:blipFill>
        </p:spPr>
      </p:sp>
      <p:sp>
        <p:nvSpPr>
          <p:cNvPr name="Freeform 7" id="7"/>
          <p:cNvSpPr/>
          <p:nvPr/>
        </p:nvSpPr>
        <p:spPr>
          <a:xfrm flipH="false" flipV="false" rot="0">
            <a:off x="10581938" y="1158587"/>
            <a:ext cx="5310865" cy="3343763"/>
          </a:xfrm>
          <a:custGeom>
            <a:avLst/>
            <a:gdLst/>
            <a:ahLst/>
            <a:cxnLst/>
            <a:rect r="r" b="b" t="t" l="l"/>
            <a:pathLst>
              <a:path h="3343763" w="5310865">
                <a:moveTo>
                  <a:pt x="0" y="0"/>
                </a:moveTo>
                <a:lnTo>
                  <a:pt x="5310865" y="0"/>
                </a:lnTo>
                <a:lnTo>
                  <a:pt x="5310865" y="3343763"/>
                </a:lnTo>
                <a:lnTo>
                  <a:pt x="0" y="3343763"/>
                </a:lnTo>
                <a:lnTo>
                  <a:pt x="0" y="0"/>
                </a:lnTo>
                <a:close/>
              </a:path>
            </a:pathLst>
          </a:custGeom>
          <a:blipFill>
            <a:blip r:embed="rId6"/>
            <a:stretch>
              <a:fillRect l="-204594" t="0" r="-166414" b="-1027271"/>
            </a:stretch>
          </a:blipFill>
          <a:ln w="38100" cap="sq">
            <a:solidFill>
              <a:srgbClr val="FF3131"/>
            </a:solidFill>
            <a:prstDash val="solid"/>
            <a:miter/>
          </a:ln>
        </p:spPr>
      </p:sp>
      <p:sp>
        <p:nvSpPr>
          <p:cNvPr name="TextBox 8" id="8"/>
          <p:cNvSpPr txBox="true"/>
          <p:nvPr/>
        </p:nvSpPr>
        <p:spPr>
          <a:xfrm rot="0">
            <a:off x="10978163" y="4699635"/>
            <a:ext cx="4541427" cy="821055"/>
          </a:xfrm>
          <a:prstGeom prst="rect">
            <a:avLst/>
          </a:prstGeom>
        </p:spPr>
        <p:txBody>
          <a:bodyPr anchor="t" rtlCol="false" tIns="0" lIns="0" bIns="0" rIns="0">
            <a:spAutoFit/>
          </a:bodyPr>
          <a:lstStyle/>
          <a:p>
            <a:pPr algn="ctr">
              <a:lnSpc>
                <a:spcPts val="3300"/>
              </a:lnSpc>
              <a:spcBef>
                <a:spcPct val="0"/>
              </a:spcBef>
            </a:pPr>
            <a:r>
              <a:rPr lang="en-US" sz="2200">
                <a:solidFill>
                  <a:srgbClr val="F1EEEB"/>
                </a:solidFill>
                <a:latin typeface="Gotham"/>
                <a:ea typeface="Gotham"/>
                <a:cs typeface="Gotham"/>
                <a:sym typeface="Gotham"/>
              </a:rPr>
              <a:t>Change the image displayed with the sliders and buttons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1EEEB"/>
        </a:solidFill>
      </p:bgPr>
    </p:bg>
    <p:spTree>
      <p:nvGrpSpPr>
        <p:cNvPr id="1" name=""/>
        <p:cNvGrpSpPr/>
        <p:nvPr/>
      </p:nvGrpSpPr>
      <p:grpSpPr>
        <a:xfrm>
          <a:off x="0" y="0"/>
          <a:ext cx="0" cy="0"/>
          <a:chOff x="0" y="0"/>
          <a:chExt cx="0" cy="0"/>
        </a:xfrm>
      </p:grpSpPr>
      <p:sp>
        <p:nvSpPr>
          <p:cNvPr name="Freeform 2" id="2"/>
          <p:cNvSpPr/>
          <p:nvPr/>
        </p:nvSpPr>
        <p:spPr>
          <a:xfrm flipH="false" flipV="false" rot="0">
            <a:off x="0" y="230804"/>
            <a:ext cx="18288000" cy="9825392"/>
          </a:xfrm>
          <a:custGeom>
            <a:avLst/>
            <a:gdLst/>
            <a:ahLst/>
            <a:cxnLst/>
            <a:rect r="r" b="b" t="t" l="l"/>
            <a:pathLst>
              <a:path h="9825392" w="18288000">
                <a:moveTo>
                  <a:pt x="0" y="0"/>
                </a:moveTo>
                <a:lnTo>
                  <a:pt x="18288000" y="0"/>
                </a:lnTo>
                <a:lnTo>
                  <a:pt x="18288000" y="9825392"/>
                </a:lnTo>
                <a:lnTo>
                  <a:pt x="0" y="9825392"/>
                </a:lnTo>
                <a:lnTo>
                  <a:pt x="0" y="0"/>
                </a:lnTo>
                <a:close/>
              </a:path>
            </a:pathLst>
          </a:custGeom>
          <a:blipFill>
            <a:blip r:embed="rId3"/>
            <a:stretch>
              <a:fillRect l="0" t="0" r="0" b="0"/>
            </a:stretch>
          </a:blipFill>
        </p:spPr>
      </p:sp>
      <p:sp>
        <p:nvSpPr>
          <p:cNvPr name="Freeform 3" id="3"/>
          <p:cNvSpPr/>
          <p:nvPr/>
        </p:nvSpPr>
        <p:spPr>
          <a:xfrm flipH="false" flipV="false" rot="0">
            <a:off x="2375423" y="1158587"/>
            <a:ext cx="8043771" cy="7707356"/>
          </a:xfrm>
          <a:custGeom>
            <a:avLst/>
            <a:gdLst/>
            <a:ahLst/>
            <a:cxnLst/>
            <a:rect r="r" b="b" t="t" l="l"/>
            <a:pathLst>
              <a:path h="7707356" w="8043771">
                <a:moveTo>
                  <a:pt x="0" y="0"/>
                </a:moveTo>
                <a:lnTo>
                  <a:pt x="8043770" y="0"/>
                </a:lnTo>
                <a:lnTo>
                  <a:pt x="8043770" y="7707356"/>
                </a:lnTo>
                <a:lnTo>
                  <a:pt x="0" y="7707356"/>
                </a:lnTo>
                <a:lnTo>
                  <a:pt x="0" y="0"/>
                </a:lnTo>
                <a:close/>
              </a:path>
            </a:pathLst>
          </a:custGeom>
          <a:blipFill>
            <a:blip r:embed="rId4"/>
            <a:stretch>
              <a:fillRect l="0" t="-2632" r="0" b="-2632"/>
            </a:stretch>
          </a:blipFill>
        </p:spPr>
      </p:sp>
      <p:sp>
        <p:nvSpPr>
          <p:cNvPr name="Freeform 4" id="4"/>
          <p:cNvSpPr/>
          <p:nvPr/>
        </p:nvSpPr>
        <p:spPr>
          <a:xfrm flipH="false" flipV="false" rot="0">
            <a:off x="10419193" y="4368424"/>
            <a:ext cx="5333875" cy="3274972"/>
          </a:xfrm>
          <a:custGeom>
            <a:avLst/>
            <a:gdLst/>
            <a:ahLst/>
            <a:cxnLst/>
            <a:rect r="r" b="b" t="t" l="l"/>
            <a:pathLst>
              <a:path h="3274972" w="5333875">
                <a:moveTo>
                  <a:pt x="0" y="0"/>
                </a:moveTo>
                <a:lnTo>
                  <a:pt x="5333876" y="0"/>
                </a:lnTo>
                <a:lnTo>
                  <a:pt x="5333876" y="3274971"/>
                </a:lnTo>
                <a:lnTo>
                  <a:pt x="0" y="3274971"/>
                </a:lnTo>
                <a:lnTo>
                  <a:pt x="0" y="0"/>
                </a:lnTo>
                <a:close/>
              </a:path>
            </a:pathLst>
          </a:custGeom>
          <a:blipFill>
            <a:blip r:embed="rId5"/>
            <a:stretch>
              <a:fillRect l="-32860" t="0" r="-32860" b="-25955"/>
            </a:stretch>
          </a:blipFill>
        </p:spPr>
      </p:sp>
      <p:sp>
        <p:nvSpPr>
          <p:cNvPr name="Freeform 5" id="5"/>
          <p:cNvSpPr/>
          <p:nvPr/>
        </p:nvSpPr>
        <p:spPr>
          <a:xfrm flipH="false" flipV="false" rot="0">
            <a:off x="10581938" y="1158587"/>
            <a:ext cx="5333875" cy="5503157"/>
          </a:xfrm>
          <a:custGeom>
            <a:avLst/>
            <a:gdLst/>
            <a:ahLst/>
            <a:cxnLst/>
            <a:rect r="r" b="b" t="t" l="l"/>
            <a:pathLst>
              <a:path h="5503157" w="5333875">
                <a:moveTo>
                  <a:pt x="0" y="0"/>
                </a:moveTo>
                <a:lnTo>
                  <a:pt x="5333876" y="0"/>
                </a:lnTo>
                <a:lnTo>
                  <a:pt x="5333876" y="5503157"/>
                </a:lnTo>
                <a:lnTo>
                  <a:pt x="0" y="5503157"/>
                </a:lnTo>
                <a:lnTo>
                  <a:pt x="0" y="0"/>
                </a:lnTo>
                <a:close/>
              </a:path>
            </a:pathLst>
          </a:custGeom>
          <a:blipFill>
            <a:blip r:embed="rId5"/>
            <a:stretch>
              <a:fillRect l="-330175" t="0" r="-330175" b="-243916"/>
            </a:stretch>
          </a:blipFill>
        </p:spPr>
      </p:sp>
      <p:sp>
        <p:nvSpPr>
          <p:cNvPr name="Freeform 6" id="6"/>
          <p:cNvSpPr/>
          <p:nvPr/>
        </p:nvSpPr>
        <p:spPr>
          <a:xfrm flipH="false" flipV="false" rot="0">
            <a:off x="10604949" y="7512373"/>
            <a:ext cx="5310865" cy="843655"/>
          </a:xfrm>
          <a:custGeom>
            <a:avLst/>
            <a:gdLst/>
            <a:ahLst/>
            <a:cxnLst/>
            <a:rect r="r" b="b" t="t" l="l"/>
            <a:pathLst>
              <a:path h="843655" w="5310865">
                <a:moveTo>
                  <a:pt x="0" y="0"/>
                </a:moveTo>
                <a:lnTo>
                  <a:pt x="5310865" y="0"/>
                </a:lnTo>
                <a:lnTo>
                  <a:pt x="5310865" y="843655"/>
                </a:lnTo>
                <a:lnTo>
                  <a:pt x="0" y="843655"/>
                </a:lnTo>
                <a:lnTo>
                  <a:pt x="0" y="0"/>
                </a:lnTo>
                <a:close/>
              </a:path>
            </a:pathLst>
          </a:custGeom>
          <a:blipFill>
            <a:blip r:embed="rId6"/>
            <a:stretch>
              <a:fillRect l="-204594" t="-296342" r="-166414" b="-4071510"/>
            </a:stretch>
          </a:blipFill>
          <a:ln w="38100" cap="sq">
            <a:solidFill>
              <a:srgbClr val="FF3131"/>
            </a:solidFill>
            <a:prstDash val="solid"/>
            <a:miter/>
          </a:ln>
        </p:spPr>
      </p:sp>
      <p:sp>
        <p:nvSpPr>
          <p:cNvPr name="TextBox 7" id="7"/>
          <p:cNvSpPr txBox="true"/>
          <p:nvPr/>
        </p:nvSpPr>
        <p:spPr>
          <a:xfrm rot="0">
            <a:off x="10674816" y="6427429"/>
            <a:ext cx="5171130" cy="821055"/>
          </a:xfrm>
          <a:prstGeom prst="rect">
            <a:avLst/>
          </a:prstGeom>
        </p:spPr>
        <p:txBody>
          <a:bodyPr anchor="t" rtlCol="false" tIns="0" lIns="0" bIns="0" rIns="0">
            <a:spAutoFit/>
          </a:bodyPr>
          <a:lstStyle/>
          <a:p>
            <a:pPr algn="ctr">
              <a:lnSpc>
                <a:spcPts val="3300"/>
              </a:lnSpc>
              <a:spcBef>
                <a:spcPct val="0"/>
              </a:spcBef>
            </a:pPr>
            <a:r>
              <a:rPr lang="en-US" sz="2200">
                <a:solidFill>
                  <a:srgbClr val="F1EEEB"/>
                </a:solidFill>
                <a:latin typeface="Gotham"/>
                <a:ea typeface="Gotham"/>
                <a:cs typeface="Gotham"/>
                <a:sym typeface="Gotham"/>
              </a:rPr>
              <a:t>Launch the analysis to get a prediction about the worm mutation</a:t>
            </a:r>
          </a:p>
        </p:txBody>
      </p:sp>
      <p:sp>
        <p:nvSpPr>
          <p:cNvPr name="Freeform 8" id="8"/>
          <p:cNvSpPr/>
          <p:nvPr/>
        </p:nvSpPr>
        <p:spPr>
          <a:xfrm flipH="false" flipV="false" rot="0">
            <a:off x="16221550" y="4616706"/>
            <a:ext cx="1986776" cy="671892"/>
          </a:xfrm>
          <a:custGeom>
            <a:avLst/>
            <a:gdLst/>
            <a:ahLst/>
            <a:cxnLst/>
            <a:rect r="r" b="b" t="t" l="l"/>
            <a:pathLst>
              <a:path h="671892" w="1986776">
                <a:moveTo>
                  <a:pt x="0" y="0"/>
                </a:moveTo>
                <a:lnTo>
                  <a:pt x="1986775" y="0"/>
                </a:lnTo>
                <a:lnTo>
                  <a:pt x="1986775" y="671892"/>
                </a:lnTo>
                <a:lnTo>
                  <a:pt x="0" y="671892"/>
                </a:lnTo>
                <a:lnTo>
                  <a:pt x="0" y="0"/>
                </a:lnTo>
                <a:close/>
              </a:path>
            </a:pathLst>
          </a:custGeom>
          <a:blipFill>
            <a:blip r:embed="rId6"/>
            <a:stretch>
              <a:fillRect l="-710202" t="-372099" r="-448854" b="-5137919"/>
            </a:stretch>
          </a:blipFill>
          <a:ln w="38100" cap="sq">
            <a:solidFill>
              <a:srgbClr val="FF3131"/>
            </a:solidFill>
            <a:prstDash val="solid"/>
            <a:miter/>
          </a:ln>
        </p:spPr>
      </p:sp>
      <p:sp>
        <p:nvSpPr>
          <p:cNvPr name="TextBox 9" id="9"/>
          <p:cNvSpPr txBox="true"/>
          <p:nvPr/>
        </p:nvSpPr>
        <p:spPr>
          <a:xfrm rot="0">
            <a:off x="11142340" y="4718337"/>
            <a:ext cx="5171130" cy="401955"/>
          </a:xfrm>
          <a:prstGeom prst="rect">
            <a:avLst/>
          </a:prstGeom>
        </p:spPr>
        <p:txBody>
          <a:bodyPr anchor="t" rtlCol="false" tIns="0" lIns="0" bIns="0" rIns="0">
            <a:spAutoFit/>
          </a:bodyPr>
          <a:lstStyle/>
          <a:p>
            <a:pPr algn="ctr">
              <a:lnSpc>
                <a:spcPts val="3300"/>
              </a:lnSpc>
              <a:spcBef>
                <a:spcPct val="0"/>
              </a:spcBef>
            </a:pPr>
            <a:r>
              <a:rPr lang="en-US" sz="2200">
                <a:solidFill>
                  <a:srgbClr val="F1EEEB"/>
                </a:solidFill>
                <a:latin typeface="Gotham"/>
                <a:ea typeface="Gotham"/>
                <a:cs typeface="Gotham"/>
                <a:sym typeface="Gotham"/>
              </a:rPr>
              <a:t>Select the wanted AI model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1EEEB"/>
        </a:solidFill>
      </p:bgPr>
    </p:bg>
    <p:spTree>
      <p:nvGrpSpPr>
        <p:cNvPr id="1" name=""/>
        <p:cNvGrpSpPr/>
        <p:nvPr/>
      </p:nvGrpSpPr>
      <p:grpSpPr>
        <a:xfrm>
          <a:off x="0" y="0"/>
          <a:ext cx="0" cy="0"/>
          <a:chOff x="0" y="0"/>
          <a:chExt cx="0" cy="0"/>
        </a:xfrm>
      </p:grpSpPr>
      <p:sp>
        <p:nvSpPr>
          <p:cNvPr name="Freeform 2" id="2"/>
          <p:cNvSpPr/>
          <p:nvPr/>
        </p:nvSpPr>
        <p:spPr>
          <a:xfrm flipH="false" flipV="false" rot="0">
            <a:off x="0" y="230804"/>
            <a:ext cx="18288000" cy="9825392"/>
          </a:xfrm>
          <a:custGeom>
            <a:avLst/>
            <a:gdLst/>
            <a:ahLst/>
            <a:cxnLst/>
            <a:rect r="r" b="b" t="t" l="l"/>
            <a:pathLst>
              <a:path h="9825392" w="18288000">
                <a:moveTo>
                  <a:pt x="0" y="0"/>
                </a:moveTo>
                <a:lnTo>
                  <a:pt x="18288000" y="0"/>
                </a:lnTo>
                <a:lnTo>
                  <a:pt x="18288000" y="9825392"/>
                </a:lnTo>
                <a:lnTo>
                  <a:pt x="0" y="9825392"/>
                </a:lnTo>
                <a:lnTo>
                  <a:pt x="0" y="0"/>
                </a:lnTo>
                <a:close/>
              </a:path>
            </a:pathLst>
          </a:custGeom>
          <a:blipFill>
            <a:blip r:embed="rId3"/>
            <a:stretch>
              <a:fillRect l="0" t="0" r="0" b="0"/>
            </a:stretch>
          </a:blipFill>
        </p:spPr>
      </p:sp>
      <p:sp>
        <p:nvSpPr>
          <p:cNvPr name="Freeform 3" id="3"/>
          <p:cNvSpPr/>
          <p:nvPr/>
        </p:nvSpPr>
        <p:spPr>
          <a:xfrm flipH="false" flipV="false" rot="0">
            <a:off x="2375423" y="1158587"/>
            <a:ext cx="8043771" cy="7707356"/>
          </a:xfrm>
          <a:custGeom>
            <a:avLst/>
            <a:gdLst/>
            <a:ahLst/>
            <a:cxnLst/>
            <a:rect r="r" b="b" t="t" l="l"/>
            <a:pathLst>
              <a:path h="7707356" w="8043771">
                <a:moveTo>
                  <a:pt x="0" y="0"/>
                </a:moveTo>
                <a:lnTo>
                  <a:pt x="8043770" y="0"/>
                </a:lnTo>
                <a:lnTo>
                  <a:pt x="8043770" y="7707356"/>
                </a:lnTo>
                <a:lnTo>
                  <a:pt x="0" y="7707356"/>
                </a:lnTo>
                <a:lnTo>
                  <a:pt x="0" y="0"/>
                </a:lnTo>
                <a:close/>
              </a:path>
            </a:pathLst>
          </a:custGeom>
          <a:blipFill>
            <a:blip r:embed="rId4"/>
            <a:stretch>
              <a:fillRect l="0" t="-2632" r="0" b="-2632"/>
            </a:stretch>
          </a:blipFill>
        </p:spPr>
      </p:sp>
      <p:sp>
        <p:nvSpPr>
          <p:cNvPr name="Freeform 4" id="4"/>
          <p:cNvSpPr/>
          <p:nvPr/>
        </p:nvSpPr>
        <p:spPr>
          <a:xfrm flipH="false" flipV="false" rot="0">
            <a:off x="10419193" y="4368424"/>
            <a:ext cx="5333875" cy="5321876"/>
          </a:xfrm>
          <a:custGeom>
            <a:avLst/>
            <a:gdLst/>
            <a:ahLst/>
            <a:cxnLst/>
            <a:rect r="r" b="b" t="t" l="l"/>
            <a:pathLst>
              <a:path h="5321876" w="5333875">
                <a:moveTo>
                  <a:pt x="0" y="0"/>
                </a:moveTo>
                <a:lnTo>
                  <a:pt x="5333876" y="0"/>
                </a:lnTo>
                <a:lnTo>
                  <a:pt x="5333876" y="5321876"/>
                </a:lnTo>
                <a:lnTo>
                  <a:pt x="0" y="5321876"/>
                </a:lnTo>
                <a:lnTo>
                  <a:pt x="0" y="0"/>
                </a:lnTo>
                <a:close/>
              </a:path>
            </a:pathLst>
          </a:custGeom>
          <a:blipFill>
            <a:blip r:embed="rId5"/>
            <a:stretch>
              <a:fillRect l="-56901" t="0" r="-56901" b="0"/>
            </a:stretch>
          </a:blipFill>
        </p:spPr>
      </p:sp>
      <p:sp>
        <p:nvSpPr>
          <p:cNvPr name="Freeform 5" id="5"/>
          <p:cNvSpPr/>
          <p:nvPr/>
        </p:nvSpPr>
        <p:spPr>
          <a:xfrm flipH="false" flipV="false" rot="0">
            <a:off x="10581938" y="1158587"/>
            <a:ext cx="5333875" cy="5503157"/>
          </a:xfrm>
          <a:custGeom>
            <a:avLst/>
            <a:gdLst/>
            <a:ahLst/>
            <a:cxnLst/>
            <a:rect r="r" b="b" t="t" l="l"/>
            <a:pathLst>
              <a:path h="5503157" w="5333875">
                <a:moveTo>
                  <a:pt x="0" y="0"/>
                </a:moveTo>
                <a:lnTo>
                  <a:pt x="5333876" y="0"/>
                </a:lnTo>
                <a:lnTo>
                  <a:pt x="5333876" y="5503157"/>
                </a:lnTo>
                <a:lnTo>
                  <a:pt x="0" y="5503157"/>
                </a:lnTo>
                <a:lnTo>
                  <a:pt x="0" y="0"/>
                </a:lnTo>
                <a:close/>
              </a:path>
            </a:pathLst>
          </a:custGeom>
          <a:blipFill>
            <a:blip r:embed="rId6"/>
            <a:stretch>
              <a:fillRect l="-330175" t="0" r="-330175" b="-243916"/>
            </a:stretch>
          </a:blipFill>
        </p:spPr>
      </p:sp>
      <p:sp>
        <p:nvSpPr>
          <p:cNvPr name="Freeform 6" id="6"/>
          <p:cNvSpPr/>
          <p:nvPr/>
        </p:nvSpPr>
        <p:spPr>
          <a:xfrm flipH="false" flipV="false" rot="0">
            <a:off x="16198380" y="5143500"/>
            <a:ext cx="1988147" cy="706893"/>
          </a:xfrm>
          <a:custGeom>
            <a:avLst/>
            <a:gdLst/>
            <a:ahLst/>
            <a:cxnLst/>
            <a:rect r="r" b="b" t="t" l="l"/>
            <a:pathLst>
              <a:path h="706893" w="1988147">
                <a:moveTo>
                  <a:pt x="0" y="0"/>
                </a:moveTo>
                <a:lnTo>
                  <a:pt x="1988147" y="0"/>
                </a:lnTo>
                <a:lnTo>
                  <a:pt x="1988147" y="706893"/>
                </a:lnTo>
                <a:lnTo>
                  <a:pt x="0" y="706893"/>
                </a:lnTo>
                <a:lnTo>
                  <a:pt x="0" y="0"/>
                </a:lnTo>
                <a:close/>
              </a:path>
            </a:pathLst>
          </a:custGeom>
          <a:blipFill>
            <a:blip r:embed="rId7"/>
            <a:stretch>
              <a:fillRect l="-347864" t="-160369" r="-244690" b="-2674702"/>
            </a:stretch>
          </a:blipFill>
          <a:ln w="38100" cap="sq">
            <a:solidFill>
              <a:srgbClr val="FF3131"/>
            </a:solidFill>
            <a:prstDash val="solid"/>
            <a:miter/>
          </a:ln>
        </p:spPr>
      </p:sp>
      <p:sp>
        <p:nvSpPr>
          <p:cNvPr name="TextBox 7" id="7"/>
          <p:cNvSpPr txBox="true"/>
          <p:nvPr/>
        </p:nvSpPr>
        <p:spPr>
          <a:xfrm rot="0">
            <a:off x="10641849" y="5783718"/>
            <a:ext cx="5111220" cy="1240155"/>
          </a:xfrm>
          <a:prstGeom prst="rect">
            <a:avLst/>
          </a:prstGeom>
        </p:spPr>
        <p:txBody>
          <a:bodyPr anchor="t" rtlCol="false" tIns="0" lIns="0" bIns="0" rIns="0">
            <a:spAutoFit/>
          </a:bodyPr>
          <a:lstStyle/>
          <a:p>
            <a:pPr algn="ctr">
              <a:lnSpc>
                <a:spcPts val="3300"/>
              </a:lnSpc>
            </a:pPr>
            <a:r>
              <a:rPr lang="en-US" sz="2200">
                <a:solidFill>
                  <a:srgbClr val="F1EEEB"/>
                </a:solidFill>
                <a:latin typeface="Gotham"/>
                <a:ea typeface="Gotham"/>
                <a:cs typeface="Gotham"/>
                <a:sym typeface="Gotham"/>
              </a:rPr>
              <a:t>You can use the arrow keys on your keyboard to move the microscope.</a:t>
            </a:r>
          </a:p>
          <a:p>
            <a:pPr algn="ctr">
              <a:lnSpc>
                <a:spcPts val="3300"/>
              </a:lnSpc>
              <a:spcBef>
                <a:spcPct val="0"/>
              </a:spcBef>
            </a:pPr>
            <a:r>
              <a:rPr lang="en-US" sz="2200">
                <a:solidFill>
                  <a:srgbClr val="F1EEEB"/>
                </a:solidFill>
                <a:latin typeface="Gotham"/>
                <a:ea typeface="Gotham"/>
                <a:cs typeface="Gotham"/>
                <a:sym typeface="Gotham"/>
              </a:rPr>
              <a:t>The size of a step is defined here : </a:t>
            </a:r>
          </a:p>
        </p:txBody>
      </p:sp>
      <p:sp>
        <p:nvSpPr>
          <p:cNvPr name="TextBox 8" id="8"/>
          <p:cNvSpPr txBox="true"/>
          <p:nvPr/>
        </p:nvSpPr>
        <p:spPr>
          <a:xfrm rot="0">
            <a:off x="2375423" y="2022479"/>
            <a:ext cx="3867889" cy="1813560"/>
          </a:xfrm>
          <a:prstGeom prst="rect">
            <a:avLst/>
          </a:prstGeom>
        </p:spPr>
        <p:txBody>
          <a:bodyPr anchor="t" rtlCol="false" tIns="0" lIns="0" bIns="0" rIns="0">
            <a:spAutoFit/>
          </a:bodyPr>
          <a:lstStyle/>
          <a:p>
            <a:pPr algn="ctr">
              <a:lnSpc>
                <a:spcPts val="3600"/>
              </a:lnSpc>
              <a:spcBef>
                <a:spcPct val="0"/>
              </a:spcBef>
            </a:pPr>
            <a:r>
              <a:rPr lang="en-US" sz="2400">
                <a:solidFill>
                  <a:srgbClr val="F1EEEB"/>
                </a:solidFill>
                <a:latin typeface="Gotham"/>
                <a:ea typeface="Gotham"/>
                <a:cs typeface="Gotham"/>
                <a:sym typeface="Gotham"/>
              </a:rPr>
              <a:t>Live image : If you click on it, the microscope move to center to the clicked point</a:t>
            </a:r>
          </a:p>
        </p:txBody>
      </p:sp>
      <p:sp>
        <p:nvSpPr>
          <p:cNvPr name="Freeform 9" id="9"/>
          <p:cNvSpPr/>
          <p:nvPr/>
        </p:nvSpPr>
        <p:spPr>
          <a:xfrm flipH="false" flipV="false" rot="0">
            <a:off x="16194799" y="3970020"/>
            <a:ext cx="1988147" cy="706893"/>
          </a:xfrm>
          <a:custGeom>
            <a:avLst/>
            <a:gdLst/>
            <a:ahLst/>
            <a:cxnLst/>
            <a:rect r="r" b="b" t="t" l="l"/>
            <a:pathLst>
              <a:path h="706893" w="1988147">
                <a:moveTo>
                  <a:pt x="0" y="0"/>
                </a:moveTo>
                <a:lnTo>
                  <a:pt x="1988147" y="0"/>
                </a:lnTo>
                <a:lnTo>
                  <a:pt x="1988147" y="706893"/>
                </a:lnTo>
                <a:lnTo>
                  <a:pt x="0" y="706893"/>
                </a:lnTo>
                <a:lnTo>
                  <a:pt x="0" y="0"/>
                </a:lnTo>
                <a:close/>
              </a:path>
            </a:pathLst>
          </a:custGeom>
          <a:blipFill>
            <a:blip r:embed="rId7"/>
            <a:stretch>
              <a:fillRect l="-347864" t="-160369" r="-244690" b="-2674702"/>
            </a:stretch>
          </a:blipFill>
          <a:ln w="38100" cap="sq">
            <a:solidFill>
              <a:srgbClr val="FF3131"/>
            </a:solidFill>
            <a:prstDash val="solid"/>
            <a:miter/>
          </a:ln>
        </p:spPr>
      </p:sp>
      <p:sp>
        <p:nvSpPr>
          <p:cNvPr name="Freeform 10" id="10"/>
          <p:cNvSpPr/>
          <p:nvPr/>
        </p:nvSpPr>
        <p:spPr>
          <a:xfrm flipH="false" flipV="false" rot="-2616669">
            <a:off x="15753069" y="5954956"/>
            <a:ext cx="772829" cy="706788"/>
          </a:xfrm>
          <a:custGeom>
            <a:avLst/>
            <a:gdLst/>
            <a:ahLst/>
            <a:cxnLst/>
            <a:rect r="r" b="b" t="t" l="l"/>
            <a:pathLst>
              <a:path h="706788" w="772829">
                <a:moveTo>
                  <a:pt x="0" y="0"/>
                </a:moveTo>
                <a:lnTo>
                  <a:pt x="772829" y="0"/>
                </a:lnTo>
                <a:lnTo>
                  <a:pt x="772829" y="706788"/>
                </a:lnTo>
                <a:lnTo>
                  <a:pt x="0" y="70678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2348362">
            <a:off x="15366654" y="3556772"/>
            <a:ext cx="772829" cy="706788"/>
          </a:xfrm>
          <a:custGeom>
            <a:avLst/>
            <a:gdLst/>
            <a:ahLst/>
            <a:cxnLst/>
            <a:rect r="r" b="b" t="t" l="l"/>
            <a:pathLst>
              <a:path h="706788" w="772829">
                <a:moveTo>
                  <a:pt x="0" y="0"/>
                </a:moveTo>
                <a:lnTo>
                  <a:pt x="772829" y="0"/>
                </a:lnTo>
                <a:lnTo>
                  <a:pt x="772829" y="706787"/>
                </a:lnTo>
                <a:lnTo>
                  <a:pt x="0" y="7067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10581938" y="1732905"/>
            <a:ext cx="5333875" cy="1659255"/>
          </a:xfrm>
          <a:prstGeom prst="rect">
            <a:avLst/>
          </a:prstGeom>
        </p:spPr>
        <p:txBody>
          <a:bodyPr anchor="t" rtlCol="false" tIns="0" lIns="0" bIns="0" rIns="0">
            <a:spAutoFit/>
          </a:bodyPr>
          <a:lstStyle/>
          <a:p>
            <a:pPr algn="ctr">
              <a:lnSpc>
                <a:spcPts val="3300"/>
              </a:lnSpc>
              <a:spcBef>
                <a:spcPct val="0"/>
              </a:spcBef>
            </a:pPr>
            <a:r>
              <a:rPr lang="en-US" sz="2200">
                <a:solidFill>
                  <a:srgbClr val="F1EEEB"/>
                </a:solidFill>
                <a:latin typeface="Gotham"/>
                <a:ea typeface="Gotham"/>
                <a:cs typeface="Gotham"/>
                <a:sym typeface="Gotham"/>
              </a:rPr>
              <a:t>On the Nikon microscope, select the used objective during the analysis (necessary if you want to click on the live image to move the microscope)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1EEEB"/>
        </a:solidFill>
      </p:bgPr>
    </p:bg>
    <p:spTree>
      <p:nvGrpSpPr>
        <p:cNvPr id="1" name=""/>
        <p:cNvGrpSpPr/>
        <p:nvPr/>
      </p:nvGrpSpPr>
      <p:grpSpPr>
        <a:xfrm>
          <a:off x="0" y="0"/>
          <a:ext cx="0" cy="0"/>
          <a:chOff x="0" y="0"/>
          <a:chExt cx="0" cy="0"/>
        </a:xfrm>
      </p:grpSpPr>
      <p:sp>
        <p:nvSpPr>
          <p:cNvPr name="Freeform 2" id="2"/>
          <p:cNvSpPr/>
          <p:nvPr/>
        </p:nvSpPr>
        <p:spPr>
          <a:xfrm flipH="false" flipV="false" rot="0">
            <a:off x="0" y="230804"/>
            <a:ext cx="18288000" cy="9825392"/>
          </a:xfrm>
          <a:custGeom>
            <a:avLst/>
            <a:gdLst/>
            <a:ahLst/>
            <a:cxnLst/>
            <a:rect r="r" b="b" t="t" l="l"/>
            <a:pathLst>
              <a:path h="9825392" w="18288000">
                <a:moveTo>
                  <a:pt x="0" y="0"/>
                </a:moveTo>
                <a:lnTo>
                  <a:pt x="18288000" y="0"/>
                </a:lnTo>
                <a:lnTo>
                  <a:pt x="18288000" y="9825392"/>
                </a:lnTo>
                <a:lnTo>
                  <a:pt x="0" y="9825392"/>
                </a:lnTo>
                <a:lnTo>
                  <a:pt x="0" y="0"/>
                </a:lnTo>
                <a:close/>
              </a:path>
            </a:pathLst>
          </a:custGeom>
          <a:blipFill>
            <a:blip r:embed="rId3"/>
            <a:stretch>
              <a:fillRect l="0" t="0" r="0" b="0"/>
            </a:stretch>
          </a:blipFill>
        </p:spPr>
      </p:sp>
      <p:sp>
        <p:nvSpPr>
          <p:cNvPr name="Freeform 3" id="3"/>
          <p:cNvSpPr/>
          <p:nvPr/>
        </p:nvSpPr>
        <p:spPr>
          <a:xfrm flipH="false" flipV="false" rot="0">
            <a:off x="2375423" y="1158587"/>
            <a:ext cx="8043771" cy="7707356"/>
          </a:xfrm>
          <a:custGeom>
            <a:avLst/>
            <a:gdLst/>
            <a:ahLst/>
            <a:cxnLst/>
            <a:rect r="r" b="b" t="t" l="l"/>
            <a:pathLst>
              <a:path h="7707356" w="8043771">
                <a:moveTo>
                  <a:pt x="0" y="0"/>
                </a:moveTo>
                <a:lnTo>
                  <a:pt x="8043770" y="0"/>
                </a:lnTo>
                <a:lnTo>
                  <a:pt x="8043770" y="7707356"/>
                </a:lnTo>
                <a:lnTo>
                  <a:pt x="0" y="7707356"/>
                </a:lnTo>
                <a:lnTo>
                  <a:pt x="0" y="0"/>
                </a:lnTo>
                <a:close/>
              </a:path>
            </a:pathLst>
          </a:custGeom>
          <a:blipFill>
            <a:blip r:embed="rId4"/>
            <a:stretch>
              <a:fillRect l="0" t="-2632" r="0" b="-2632"/>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1EEEB"/>
        </a:solidFill>
      </p:bgPr>
    </p:bg>
    <p:spTree>
      <p:nvGrpSpPr>
        <p:cNvPr id="1" name=""/>
        <p:cNvGrpSpPr/>
        <p:nvPr/>
      </p:nvGrpSpPr>
      <p:grpSpPr>
        <a:xfrm>
          <a:off x="0" y="0"/>
          <a:ext cx="0" cy="0"/>
          <a:chOff x="0" y="0"/>
          <a:chExt cx="0" cy="0"/>
        </a:xfrm>
      </p:grpSpPr>
      <p:sp>
        <p:nvSpPr>
          <p:cNvPr name="Freeform 2" id="2"/>
          <p:cNvSpPr/>
          <p:nvPr/>
        </p:nvSpPr>
        <p:spPr>
          <a:xfrm flipH="false" flipV="false" rot="0">
            <a:off x="0" y="240334"/>
            <a:ext cx="18288000" cy="9806332"/>
          </a:xfrm>
          <a:custGeom>
            <a:avLst/>
            <a:gdLst/>
            <a:ahLst/>
            <a:cxnLst/>
            <a:rect r="r" b="b" t="t" l="l"/>
            <a:pathLst>
              <a:path h="9806332" w="18288000">
                <a:moveTo>
                  <a:pt x="0" y="0"/>
                </a:moveTo>
                <a:lnTo>
                  <a:pt x="18288000" y="0"/>
                </a:lnTo>
                <a:lnTo>
                  <a:pt x="18288000" y="9806332"/>
                </a:lnTo>
                <a:lnTo>
                  <a:pt x="0" y="9806332"/>
                </a:lnTo>
                <a:lnTo>
                  <a:pt x="0" y="0"/>
                </a:lnTo>
                <a:close/>
              </a:path>
            </a:pathLst>
          </a:custGeom>
          <a:blipFill>
            <a:blip r:embed="rId3"/>
            <a:stretch>
              <a:fillRect l="0" t="0" r="0" b="0"/>
            </a:stretch>
          </a:blipFill>
        </p:spPr>
      </p:sp>
      <p:grpSp>
        <p:nvGrpSpPr>
          <p:cNvPr name="Group 3" id="3"/>
          <p:cNvGrpSpPr/>
          <p:nvPr/>
        </p:nvGrpSpPr>
        <p:grpSpPr>
          <a:xfrm rot="0">
            <a:off x="2293544" y="1249707"/>
            <a:ext cx="5249116" cy="1986948"/>
            <a:chOff x="0" y="0"/>
            <a:chExt cx="6998821" cy="2649263"/>
          </a:xfrm>
        </p:grpSpPr>
        <p:sp>
          <p:nvSpPr>
            <p:cNvPr name="Freeform 4" id="4"/>
            <p:cNvSpPr/>
            <p:nvPr/>
          </p:nvSpPr>
          <p:spPr>
            <a:xfrm flipH="false" flipV="false" rot="0">
              <a:off x="5968382" y="1706880"/>
              <a:ext cx="1030439" cy="942383"/>
            </a:xfrm>
            <a:custGeom>
              <a:avLst/>
              <a:gdLst/>
              <a:ahLst/>
              <a:cxnLst/>
              <a:rect r="r" b="b" t="t" l="l"/>
              <a:pathLst>
                <a:path h="942383" w="1030439">
                  <a:moveTo>
                    <a:pt x="0" y="0"/>
                  </a:moveTo>
                  <a:lnTo>
                    <a:pt x="1030439" y="0"/>
                  </a:lnTo>
                  <a:lnTo>
                    <a:pt x="1030439" y="942383"/>
                  </a:lnTo>
                  <a:lnTo>
                    <a:pt x="0" y="9423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0" y="-76200"/>
              <a:ext cx="6483602" cy="1783080"/>
            </a:xfrm>
            <a:prstGeom prst="rect">
              <a:avLst/>
            </a:prstGeom>
          </p:spPr>
          <p:txBody>
            <a:bodyPr anchor="t" rtlCol="false" tIns="0" lIns="0" bIns="0" rIns="0">
              <a:spAutoFit/>
            </a:bodyPr>
            <a:lstStyle/>
            <a:p>
              <a:pPr algn="ctr" marL="518160" indent="-259080" lvl="1">
                <a:lnSpc>
                  <a:spcPts val="3600"/>
                </a:lnSpc>
                <a:spcBef>
                  <a:spcPct val="0"/>
                </a:spcBef>
                <a:buAutoNum type="arabicPeriod" startAt="1"/>
              </a:pPr>
              <a:r>
                <a:rPr lang="en-US" sz="2400">
                  <a:solidFill>
                    <a:srgbClr val="F1EEEB"/>
                  </a:solidFill>
                  <a:latin typeface="Gotham"/>
                  <a:ea typeface="Gotham"/>
                  <a:cs typeface="Gotham"/>
                  <a:sym typeface="Gotham"/>
                </a:rPr>
                <a:t>Give a name to your model (either create a new one or improve an existing one)</a:t>
              </a:r>
            </a:p>
          </p:txBody>
        </p:sp>
      </p:grpSp>
      <p:grpSp>
        <p:nvGrpSpPr>
          <p:cNvPr name="Group 6" id="6"/>
          <p:cNvGrpSpPr/>
          <p:nvPr/>
        </p:nvGrpSpPr>
        <p:grpSpPr>
          <a:xfrm rot="0">
            <a:off x="2186957" y="4633094"/>
            <a:ext cx="4767456" cy="1280160"/>
            <a:chOff x="0" y="0"/>
            <a:chExt cx="6356608" cy="1706880"/>
          </a:xfrm>
        </p:grpSpPr>
        <p:sp>
          <p:nvSpPr>
            <p:cNvPr name="Freeform 7" id="7"/>
            <p:cNvSpPr/>
            <p:nvPr/>
          </p:nvSpPr>
          <p:spPr>
            <a:xfrm flipH="false" flipV="false" rot="0">
              <a:off x="5326169" y="382248"/>
              <a:ext cx="1030439" cy="942383"/>
            </a:xfrm>
            <a:custGeom>
              <a:avLst/>
              <a:gdLst/>
              <a:ahLst/>
              <a:cxnLst/>
              <a:rect r="r" b="b" t="t" l="l"/>
              <a:pathLst>
                <a:path h="942383" w="1030439">
                  <a:moveTo>
                    <a:pt x="0" y="0"/>
                  </a:moveTo>
                  <a:lnTo>
                    <a:pt x="1030439" y="0"/>
                  </a:lnTo>
                  <a:lnTo>
                    <a:pt x="1030439" y="942384"/>
                  </a:lnTo>
                  <a:lnTo>
                    <a:pt x="0" y="942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0" y="-76200"/>
              <a:ext cx="5157186" cy="1783080"/>
            </a:xfrm>
            <a:prstGeom prst="rect">
              <a:avLst/>
            </a:prstGeom>
          </p:spPr>
          <p:txBody>
            <a:bodyPr anchor="t" rtlCol="false" tIns="0" lIns="0" bIns="0" rIns="0">
              <a:spAutoFit/>
            </a:bodyPr>
            <a:lstStyle/>
            <a:p>
              <a:pPr algn="l" marL="518160" indent="-259080" lvl="1">
                <a:lnSpc>
                  <a:spcPts val="3600"/>
                </a:lnSpc>
                <a:spcBef>
                  <a:spcPct val="0"/>
                </a:spcBef>
                <a:buAutoNum type="arabicPeriod" startAt="1"/>
              </a:pPr>
              <a:r>
                <a:rPr lang="en-US" sz="2400">
                  <a:solidFill>
                    <a:srgbClr val="F1EEEB"/>
                  </a:solidFill>
                  <a:latin typeface="Gotham"/>
                  <a:ea typeface="Gotham"/>
                  <a:cs typeface="Gotham"/>
                  <a:sym typeface="Gotham"/>
                </a:rPr>
                <a:t>Drop images in the following folders to train a new model</a:t>
              </a:r>
            </a:p>
          </p:txBody>
        </p:sp>
      </p:grpSp>
      <p:grpSp>
        <p:nvGrpSpPr>
          <p:cNvPr name="Group 9" id="9"/>
          <p:cNvGrpSpPr/>
          <p:nvPr/>
        </p:nvGrpSpPr>
        <p:grpSpPr>
          <a:xfrm rot="0">
            <a:off x="2541542" y="6536717"/>
            <a:ext cx="4887904" cy="706788"/>
            <a:chOff x="0" y="0"/>
            <a:chExt cx="6517205" cy="942383"/>
          </a:xfrm>
        </p:grpSpPr>
        <p:sp>
          <p:nvSpPr>
            <p:cNvPr name="Freeform 10" id="10"/>
            <p:cNvSpPr/>
            <p:nvPr/>
          </p:nvSpPr>
          <p:spPr>
            <a:xfrm flipH="false" flipV="false" rot="0">
              <a:off x="5486766" y="0"/>
              <a:ext cx="1030439" cy="942383"/>
            </a:xfrm>
            <a:custGeom>
              <a:avLst/>
              <a:gdLst/>
              <a:ahLst/>
              <a:cxnLst/>
              <a:rect r="r" b="b" t="t" l="l"/>
              <a:pathLst>
                <a:path h="942383" w="1030439">
                  <a:moveTo>
                    <a:pt x="0" y="0"/>
                  </a:moveTo>
                  <a:lnTo>
                    <a:pt x="1030439" y="0"/>
                  </a:lnTo>
                  <a:lnTo>
                    <a:pt x="1030439" y="942383"/>
                  </a:lnTo>
                  <a:lnTo>
                    <a:pt x="0" y="9423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0" y="151152"/>
              <a:ext cx="5157186" cy="563880"/>
            </a:xfrm>
            <a:prstGeom prst="rect">
              <a:avLst/>
            </a:prstGeom>
          </p:spPr>
          <p:txBody>
            <a:bodyPr anchor="t" rtlCol="false" tIns="0" lIns="0" bIns="0" rIns="0">
              <a:spAutoFit/>
            </a:bodyPr>
            <a:lstStyle/>
            <a:p>
              <a:pPr algn="ctr" marL="518160" indent="-259080" lvl="1">
                <a:lnSpc>
                  <a:spcPts val="3600"/>
                </a:lnSpc>
                <a:spcBef>
                  <a:spcPct val="0"/>
                </a:spcBef>
                <a:buAutoNum type="arabicPeriod" startAt="1"/>
              </a:pPr>
              <a:r>
                <a:rPr lang="en-US" sz="2400">
                  <a:solidFill>
                    <a:srgbClr val="F1EEEB"/>
                  </a:solidFill>
                  <a:latin typeface="Gotham"/>
                  <a:ea typeface="Gotham"/>
                  <a:cs typeface="Gotham"/>
                  <a:sym typeface="Gotham"/>
                </a:rPr>
                <a:t>Launch the training</a:t>
              </a:r>
            </a:p>
          </p:txBody>
        </p:sp>
      </p:grpSp>
      <p:grpSp>
        <p:nvGrpSpPr>
          <p:cNvPr name="Group 12" id="12"/>
          <p:cNvGrpSpPr/>
          <p:nvPr/>
        </p:nvGrpSpPr>
        <p:grpSpPr>
          <a:xfrm rot="0">
            <a:off x="11597196" y="4742184"/>
            <a:ext cx="4467478" cy="1346868"/>
            <a:chOff x="0" y="0"/>
            <a:chExt cx="5956637" cy="1795823"/>
          </a:xfrm>
        </p:grpSpPr>
        <p:sp>
          <p:nvSpPr>
            <p:cNvPr name="Freeform 13" id="13"/>
            <p:cNvSpPr/>
            <p:nvPr/>
          </p:nvSpPr>
          <p:spPr>
            <a:xfrm flipH="false" flipV="false" rot="0">
              <a:off x="4926198" y="0"/>
              <a:ext cx="1030439" cy="942383"/>
            </a:xfrm>
            <a:custGeom>
              <a:avLst/>
              <a:gdLst/>
              <a:ahLst/>
              <a:cxnLst/>
              <a:rect r="r" b="b" t="t" l="l"/>
              <a:pathLst>
                <a:path h="942383" w="1030439">
                  <a:moveTo>
                    <a:pt x="0" y="0"/>
                  </a:moveTo>
                  <a:lnTo>
                    <a:pt x="1030439" y="0"/>
                  </a:lnTo>
                  <a:lnTo>
                    <a:pt x="1030439" y="942383"/>
                  </a:lnTo>
                  <a:lnTo>
                    <a:pt x="0" y="9423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0" y="12743"/>
              <a:ext cx="5157186" cy="1783080"/>
            </a:xfrm>
            <a:prstGeom prst="rect">
              <a:avLst/>
            </a:prstGeom>
          </p:spPr>
          <p:txBody>
            <a:bodyPr anchor="t" rtlCol="false" tIns="0" lIns="0" bIns="0" rIns="0">
              <a:spAutoFit/>
            </a:bodyPr>
            <a:lstStyle/>
            <a:p>
              <a:pPr algn="l" marL="518160" indent="-259080" lvl="1">
                <a:lnSpc>
                  <a:spcPts val="3600"/>
                </a:lnSpc>
                <a:spcBef>
                  <a:spcPct val="0"/>
                </a:spcBef>
                <a:buAutoNum type="arabicPeriod" startAt="1"/>
              </a:pPr>
              <a:r>
                <a:rPr lang="en-US" sz="2400">
                  <a:solidFill>
                    <a:srgbClr val="F1EEEB"/>
                  </a:solidFill>
                  <a:latin typeface="Gotham"/>
                  <a:ea typeface="Gotham"/>
                  <a:cs typeface="Gotham"/>
                  <a:sym typeface="Gotham"/>
                </a:rPr>
                <a:t>To use this new model, you can select it here</a:t>
              </a:r>
            </a:p>
          </p:txBody>
        </p:sp>
      </p:grpSp>
      <p:sp>
        <p:nvSpPr>
          <p:cNvPr name="Freeform 15" id="15"/>
          <p:cNvSpPr/>
          <p:nvPr/>
        </p:nvSpPr>
        <p:spPr>
          <a:xfrm flipH="false" flipV="false" rot="0">
            <a:off x="10939647" y="1330339"/>
            <a:ext cx="5022632" cy="1534186"/>
          </a:xfrm>
          <a:custGeom>
            <a:avLst/>
            <a:gdLst/>
            <a:ahLst/>
            <a:cxnLst/>
            <a:rect r="r" b="b" t="t" l="l"/>
            <a:pathLst>
              <a:path h="1534186" w="5022632">
                <a:moveTo>
                  <a:pt x="0" y="0"/>
                </a:moveTo>
                <a:lnTo>
                  <a:pt x="5022631" y="0"/>
                </a:lnTo>
                <a:lnTo>
                  <a:pt x="5022631" y="1534186"/>
                </a:lnTo>
                <a:lnTo>
                  <a:pt x="0" y="15341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2293544" y="8223025"/>
            <a:ext cx="13668734" cy="1734325"/>
            <a:chOff x="0" y="0"/>
            <a:chExt cx="3599996" cy="456777"/>
          </a:xfrm>
        </p:grpSpPr>
        <p:sp>
          <p:nvSpPr>
            <p:cNvPr name="Freeform 17" id="17"/>
            <p:cNvSpPr/>
            <p:nvPr/>
          </p:nvSpPr>
          <p:spPr>
            <a:xfrm flipH="false" flipV="false" rot="0">
              <a:off x="0" y="0"/>
              <a:ext cx="3599996" cy="456777"/>
            </a:xfrm>
            <a:custGeom>
              <a:avLst/>
              <a:gdLst/>
              <a:ahLst/>
              <a:cxnLst/>
              <a:rect r="r" b="b" t="t" l="l"/>
              <a:pathLst>
                <a:path h="456777" w="3599996">
                  <a:moveTo>
                    <a:pt x="13027" y="0"/>
                  </a:moveTo>
                  <a:lnTo>
                    <a:pt x="3586969" y="0"/>
                  </a:lnTo>
                  <a:cubicBezTo>
                    <a:pt x="3594163" y="0"/>
                    <a:pt x="3599996" y="5832"/>
                    <a:pt x="3599996" y="13027"/>
                  </a:cubicBezTo>
                  <a:lnTo>
                    <a:pt x="3599996" y="443750"/>
                  </a:lnTo>
                  <a:cubicBezTo>
                    <a:pt x="3599996" y="450945"/>
                    <a:pt x="3594163" y="456777"/>
                    <a:pt x="3586969" y="456777"/>
                  </a:cubicBezTo>
                  <a:lnTo>
                    <a:pt x="13027" y="456777"/>
                  </a:lnTo>
                  <a:cubicBezTo>
                    <a:pt x="5832" y="456777"/>
                    <a:pt x="0" y="450945"/>
                    <a:pt x="0" y="443750"/>
                  </a:cubicBezTo>
                  <a:lnTo>
                    <a:pt x="0" y="13027"/>
                  </a:lnTo>
                  <a:cubicBezTo>
                    <a:pt x="0" y="5832"/>
                    <a:pt x="5832" y="0"/>
                    <a:pt x="13027" y="0"/>
                  </a:cubicBezTo>
                  <a:close/>
                </a:path>
              </a:pathLst>
            </a:custGeom>
            <a:solidFill>
              <a:srgbClr val="73655C"/>
            </a:solidFill>
          </p:spPr>
        </p:sp>
        <p:sp>
          <p:nvSpPr>
            <p:cNvPr name="TextBox 18" id="18"/>
            <p:cNvSpPr txBox="true"/>
            <p:nvPr/>
          </p:nvSpPr>
          <p:spPr>
            <a:xfrm>
              <a:off x="0" y="-76200"/>
              <a:ext cx="3599996" cy="532977"/>
            </a:xfrm>
            <a:prstGeom prst="rect">
              <a:avLst/>
            </a:prstGeom>
          </p:spPr>
          <p:txBody>
            <a:bodyPr anchor="ctr" rtlCol="false" tIns="50800" lIns="50800" bIns="50800" rIns="50800"/>
            <a:lstStyle/>
            <a:p>
              <a:pPr algn="ctr">
                <a:lnSpc>
                  <a:spcPts val="3600"/>
                </a:lnSpc>
              </a:pPr>
            </a:p>
          </p:txBody>
        </p:sp>
      </p:grpSp>
      <p:sp>
        <p:nvSpPr>
          <p:cNvPr name="TextBox 19" id="19"/>
          <p:cNvSpPr txBox="true"/>
          <p:nvPr/>
        </p:nvSpPr>
        <p:spPr>
          <a:xfrm rot="0">
            <a:off x="10895353" y="1584987"/>
            <a:ext cx="5111220" cy="948690"/>
          </a:xfrm>
          <a:prstGeom prst="rect">
            <a:avLst/>
          </a:prstGeom>
        </p:spPr>
        <p:txBody>
          <a:bodyPr anchor="t" rtlCol="false" tIns="0" lIns="0" bIns="0" rIns="0">
            <a:spAutoFit/>
          </a:bodyPr>
          <a:lstStyle/>
          <a:p>
            <a:pPr algn="ctr">
              <a:lnSpc>
                <a:spcPts val="3899"/>
              </a:lnSpc>
              <a:spcBef>
                <a:spcPct val="0"/>
              </a:spcBef>
            </a:pPr>
            <a:r>
              <a:rPr lang="en-US" sz="2599">
                <a:solidFill>
                  <a:srgbClr val="F1EEEB"/>
                </a:solidFill>
                <a:latin typeface="Gotham"/>
                <a:ea typeface="Gotham"/>
                <a:cs typeface="Gotham"/>
                <a:sym typeface="Gotham"/>
              </a:rPr>
              <a:t>How to train a new AI model for the mutation detection ?</a:t>
            </a:r>
          </a:p>
        </p:txBody>
      </p:sp>
      <p:sp>
        <p:nvSpPr>
          <p:cNvPr name="TextBox 20" id="20"/>
          <p:cNvSpPr txBox="true"/>
          <p:nvPr/>
        </p:nvSpPr>
        <p:spPr>
          <a:xfrm rot="0">
            <a:off x="2380682" y="8338100"/>
            <a:ext cx="6763318" cy="1434465"/>
          </a:xfrm>
          <a:prstGeom prst="rect">
            <a:avLst/>
          </a:prstGeom>
        </p:spPr>
        <p:txBody>
          <a:bodyPr anchor="t" rtlCol="false" tIns="0" lIns="0" bIns="0" rIns="0">
            <a:spAutoFit/>
          </a:bodyPr>
          <a:lstStyle/>
          <a:p>
            <a:pPr algn="ctr">
              <a:lnSpc>
                <a:spcPts val="3899"/>
              </a:lnSpc>
              <a:spcBef>
                <a:spcPct val="0"/>
              </a:spcBef>
            </a:pPr>
            <a:r>
              <a:rPr lang="en-US" sz="2599">
                <a:solidFill>
                  <a:srgbClr val="F1EEEB"/>
                </a:solidFill>
                <a:latin typeface="Gotham"/>
                <a:ea typeface="Gotham"/>
                <a:cs typeface="Gotham"/>
                <a:sym typeface="Gotham"/>
              </a:rPr>
              <a:t>WARNING : a AI model can’t be moved between computers. You have to create it on the computer you will use</a:t>
            </a:r>
          </a:p>
        </p:txBody>
      </p:sp>
      <p:sp>
        <p:nvSpPr>
          <p:cNvPr name="TextBox 21" id="21"/>
          <p:cNvSpPr txBox="true"/>
          <p:nvPr/>
        </p:nvSpPr>
        <p:spPr>
          <a:xfrm rot="0">
            <a:off x="10451240" y="8649568"/>
            <a:ext cx="5066926" cy="821055"/>
          </a:xfrm>
          <a:prstGeom prst="rect">
            <a:avLst/>
          </a:prstGeom>
        </p:spPr>
        <p:txBody>
          <a:bodyPr anchor="t" rtlCol="false" tIns="0" lIns="0" bIns="0" rIns="0">
            <a:spAutoFit/>
          </a:bodyPr>
          <a:lstStyle/>
          <a:p>
            <a:pPr algn="ctr">
              <a:lnSpc>
                <a:spcPts val="3300"/>
              </a:lnSpc>
              <a:spcBef>
                <a:spcPct val="0"/>
              </a:spcBef>
            </a:pPr>
            <a:r>
              <a:rPr lang="en-US" sz="2200">
                <a:solidFill>
                  <a:srgbClr val="F1EEEB"/>
                </a:solidFill>
                <a:latin typeface="Gotham"/>
                <a:ea typeface="Gotham"/>
                <a:cs typeface="Gotham"/>
                <a:sym typeface="Gotham"/>
              </a:rPr>
              <a:t>You don’t necessarily need to have the camera turn on to train a model</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1EEEB"/>
        </a:solidFill>
      </p:bgPr>
    </p:bg>
    <p:spTree>
      <p:nvGrpSpPr>
        <p:cNvPr id="1" name=""/>
        <p:cNvGrpSpPr/>
        <p:nvPr/>
      </p:nvGrpSpPr>
      <p:grpSpPr>
        <a:xfrm>
          <a:off x="0" y="0"/>
          <a:ext cx="0" cy="0"/>
          <a:chOff x="0" y="0"/>
          <a:chExt cx="0" cy="0"/>
        </a:xfrm>
      </p:grpSpPr>
      <p:sp>
        <p:nvSpPr>
          <p:cNvPr name="Freeform 2" id="2"/>
          <p:cNvSpPr/>
          <p:nvPr/>
        </p:nvSpPr>
        <p:spPr>
          <a:xfrm flipH="false" flipV="false" rot="0">
            <a:off x="1074026" y="0"/>
            <a:ext cx="16139948" cy="10287000"/>
          </a:xfrm>
          <a:custGeom>
            <a:avLst/>
            <a:gdLst/>
            <a:ahLst/>
            <a:cxnLst/>
            <a:rect r="r" b="b" t="t" l="l"/>
            <a:pathLst>
              <a:path h="10287000" w="16139948">
                <a:moveTo>
                  <a:pt x="0" y="0"/>
                </a:moveTo>
                <a:lnTo>
                  <a:pt x="16139948" y="0"/>
                </a:lnTo>
                <a:lnTo>
                  <a:pt x="16139948"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4837736" y="7047311"/>
            <a:ext cx="8695361" cy="2356774"/>
            <a:chOff x="0" y="0"/>
            <a:chExt cx="11593815" cy="3142365"/>
          </a:xfrm>
        </p:grpSpPr>
        <p:sp>
          <p:nvSpPr>
            <p:cNvPr name="Freeform 4" id="4"/>
            <p:cNvSpPr/>
            <p:nvPr/>
          </p:nvSpPr>
          <p:spPr>
            <a:xfrm flipH="false" flipV="false" rot="0">
              <a:off x="1084817" y="0"/>
              <a:ext cx="9424181" cy="2383258"/>
            </a:xfrm>
            <a:custGeom>
              <a:avLst/>
              <a:gdLst/>
              <a:ahLst/>
              <a:cxnLst/>
              <a:rect r="r" b="b" t="t" l="l"/>
              <a:pathLst>
                <a:path h="2383258" w="9424181">
                  <a:moveTo>
                    <a:pt x="0" y="0"/>
                  </a:moveTo>
                  <a:lnTo>
                    <a:pt x="9424181" y="0"/>
                  </a:lnTo>
                  <a:lnTo>
                    <a:pt x="9424181" y="2383258"/>
                  </a:lnTo>
                  <a:lnTo>
                    <a:pt x="0" y="2383258"/>
                  </a:lnTo>
                  <a:lnTo>
                    <a:pt x="0" y="0"/>
                  </a:lnTo>
                  <a:close/>
                </a:path>
              </a:pathLst>
            </a:custGeom>
            <a:blipFill>
              <a:blip r:embed="rId4"/>
              <a:stretch>
                <a:fillRect l="0" t="-538111" r="-55332" b="-287448"/>
              </a:stretch>
            </a:blipFill>
            <a:ln w="38100" cap="sq">
              <a:solidFill>
                <a:srgbClr val="FF3131"/>
              </a:solidFill>
              <a:prstDash val="solid"/>
              <a:miter/>
            </a:ln>
          </p:spPr>
        </p:sp>
        <p:sp>
          <p:nvSpPr>
            <p:cNvPr name="TextBox 5" id="5"/>
            <p:cNvSpPr txBox="true"/>
            <p:nvPr/>
          </p:nvSpPr>
          <p:spPr>
            <a:xfrm rot="0">
              <a:off x="0" y="2578485"/>
              <a:ext cx="11593815" cy="563880"/>
            </a:xfrm>
            <a:prstGeom prst="rect">
              <a:avLst/>
            </a:prstGeom>
          </p:spPr>
          <p:txBody>
            <a:bodyPr anchor="t" rtlCol="false" tIns="0" lIns="0" bIns="0" rIns="0">
              <a:spAutoFit/>
            </a:bodyPr>
            <a:lstStyle/>
            <a:p>
              <a:pPr algn="ctr">
                <a:lnSpc>
                  <a:spcPts val="3600"/>
                </a:lnSpc>
                <a:spcBef>
                  <a:spcPct val="0"/>
                </a:spcBef>
              </a:pPr>
              <a:r>
                <a:rPr lang="en-US" sz="2400">
                  <a:solidFill>
                    <a:srgbClr val="F1EEEB"/>
                  </a:solidFill>
                  <a:latin typeface="Gotham"/>
                  <a:ea typeface="Gotham"/>
                  <a:cs typeface="Gotham"/>
                  <a:sym typeface="Gotham"/>
                </a:rPr>
                <a:t>List all the objective size available  on the microscope</a:t>
              </a:r>
            </a:p>
          </p:txBody>
        </p:sp>
      </p:grpSp>
      <p:grpSp>
        <p:nvGrpSpPr>
          <p:cNvPr name="Group 6" id="6"/>
          <p:cNvGrpSpPr/>
          <p:nvPr/>
        </p:nvGrpSpPr>
        <p:grpSpPr>
          <a:xfrm rot="0">
            <a:off x="5651348" y="4807413"/>
            <a:ext cx="7068136" cy="2024141"/>
            <a:chOff x="0" y="0"/>
            <a:chExt cx="9424181" cy="2698855"/>
          </a:xfrm>
        </p:grpSpPr>
        <p:sp>
          <p:nvSpPr>
            <p:cNvPr name="Freeform 7" id="7"/>
            <p:cNvSpPr/>
            <p:nvPr/>
          </p:nvSpPr>
          <p:spPr>
            <a:xfrm flipH="false" flipV="false" rot="0">
              <a:off x="0" y="673187"/>
              <a:ext cx="9424181" cy="2025668"/>
            </a:xfrm>
            <a:custGeom>
              <a:avLst/>
              <a:gdLst/>
              <a:ahLst/>
              <a:cxnLst/>
              <a:rect r="r" b="b" t="t" l="l"/>
              <a:pathLst>
                <a:path h="2025668" w="9424181">
                  <a:moveTo>
                    <a:pt x="0" y="0"/>
                  </a:moveTo>
                  <a:lnTo>
                    <a:pt x="9424181" y="0"/>
                  </a:lnTo>
                  <a:lnTo>
                    <a:pt x="9424181" y="2025668"/>
                  </a:lnTo>
                  <a:lnTo>
                    <a:pt x="0" y="2025668"/>
                  </a:lnTo>
                  <a:lnTo>
                    <a:pt x="0" y="0"/>
                  </a:lnTo>
                  <a:close/>
                </a:path>
              </a:pathLst>
            </a:custGeom>
            <a:blipFill>
              <a:blip r:embed="rId4"/>
              <a:stretch>
                <a:fillRect l="0" t="-650757" r="-55332" b="-338191"/>
              </a:stretch>
            </a:blipFill>
            <a:ln w="38100" cap="sq">
              <a:solidFill>
                <a:srgbClr val="FF3131"/>
              </a:solidFill>
              <a:prstDash val="solid"/>
              <a:miter/>
            </a:ln>
          </p:spPr>
        </p:sp>
        <p:sp>
          <p:nvSpPr>
            <p:cNvPr name="TextBox 8" id="8"/>
            <p:cNvSpPr txBox="true"/>
            <p:nvPr/>
          </p:nvSpPr>
          <p:spPr>
            <a:xfrm rot="0">
              <a:off x="2325064" y="-76200"/>
              <a:ext cx="4774053" cy="563880"/>
            </a:xfrm>
            <a:prstGeom prst="rect">
              <a:avLst/>
            </a:prstGeom>
          </p:spPr>
          <p:txBody>
            <a:bodyPr anchor="t" rtlCol="false" tIns="0" lIns="0" bIns="0" rIns="0">
              <a:spAutoFit/>
            </a:bodyPr>
            <a:lstStyle/>
            <a:p>
              <a:pPr algn="ctr">
                <a:lnSpc>
                  <a:spcPts val="3600"/>
                </a:lnSpc>
                <a:spcBef>
                  <a:spcPct val="0"/>
                </a:spcBef>
              </a:pPr>
              <a:r>
                <a:rPr lang="en-US" sz="2400">
                  <a:solidFill>
                    <a:srgbClr val="F1EEEB"/>
                  </a:solidFill>
                  <a:latin typeface="Gotham"/>
                  <a:ea typeface="Gotham"/>
                  <a:cs typeface="Gotham"/>
                  <a:sym typeface="Gotham"/>
                </a:rPr>
                <a:t>Change the scan length</a:t>
              </a:r>
            </a:p>
          </p:txBody>
        </p:sp>
      </p:grpSp>
      <p:sp>
        <p:nvSpPr>
          <p:cNvPr name="Freeform 9" id="9"/>
          <p:cNvSpPr/>
          <p:nvPr/>
        </p:nvSpPr>
        <p:spPr>
          <a:xfrm flipH="false" flipV="false" rot="-5463232">
            <a:off x="8336166" y="302216"/>
            <a:ext cx="1698500" cy="6749884"/>
          </a:xfrm>
          <a:custGeom>
            <a:avLst/>
            <a:gdLst/>
            <a:ahLst/>
            <a:cxnLst/>
            <a:rect r="r" b="b" t="t" l="l"/>
            <a:pathLst>
              <a:path h="6749884" w="1698500">
                <a:moveTo>
                  <a:pt x="0" y="0"/>
                </a:moveTo>
                <a:lnTo>
                  <a:pt x="1698500" y="0"/>
                </a:lnTo>
                <a:lnTo>
                  <a:pt x="1698500" y="6749884"/>
                </a:lnTo>
                <a:lnTo>
                  <a:pt x="0" y="6749884"/>
                </a:lnTo>
                <a:lnTo>
                  <a:pt x="0" y="0"/>
                </a:lnTo>
                <a:close/>
              </a:path>
            </a:pathLst>
          </a:custGeom>
          <a:blipFill>
            <a:blip r:embed="rId5"/>
            <a:stretch>
              <a:fillRect l="0" t="0" r="0" b="0"/>
            </a:stretch>
          </a:blipFill>
        </p:spPr>
      </p:sp>
      <p:sp>
        <p:nvSpPr>
          <p:cNvPr name="Freeform 10" id="10"/>
          <p:cNvSpPr/>
          <p:nvPr/>
        </p:nvSpPr>
        <p:spPr>
          <a:xfrm flipH="false" flipV="false" rot="0">
            <a:off x="14843218" y="64747"/>
            <a:ext cx="2241389" cy="8409355"/>
          </a:xfrm>
          <a:custGeom>
            <a:avLst/>
            <a:gdLst/>
            <a:ahLst/>
            <a:cxnLst/>
            <a:rect r="r" b="b" t="t" l="l"/>
            <a:pathLst>
              <a:path h="8409355" w="2241389">
                <a:moveTo>
                  <a:pt x="0" y="0"/>
                </a:moveTo>
                <a:lnTo>
                  <a:pt x="2241389" y="0"/>
                </a:lnTo>
                <a:lnTo>
                  <a:pt x="2241389" y="8409355"/>
                </a:lnTo>
                <a:lnTo>
                  <a:pt x="0" y="8409355"/>
                </a:lnTo>
                <a:lnTo>
                  <a:pt x="0" y="0"/>
                </a:lnTo>
                <a:close/>
              </a:path>
            </a:pathLst>
          </a:custGeom>
          <a:blipFill>
            <a:blip r:embed="rId6"/>
            <a:stretch>
              <a:fillRect l="-789922" t="0" r="-1253" b="-27367"/>
            </a:stretch>
          </a:blipFill>
        </p:spPr>
      </p:sp>
      <p:sp>
        <p:nvSpPr>
          <p:cNvPr name="Freeform 11" id="11"/>
          <p:cNvSpPr/>
          <p:nvPr/>
        </p:nvSpPr>
        <p:spPr>
          <a:xfrm flipH="false" flipV="false" rot="0">
            <a:off x="14843218" y="9537543"/>
            <a:ext cx="2370756" cy="749457"/>
          </a:xfrm>
          <a:custGeom>
            <a:avLst/>
            <a:gdLst/>
            <a:ahLst/>
            <a:cxnLst/>
            <a:rect r="r" b="b" t="t" l="l"/>
            <a:pathLst>
              <a:path h="749457" w="2370756">
                <a:moveTo>
                  <a:pt x="0" y="0"/>
                </a:moveTo>
                <a:lnTo>
                  <a:pt x="2370756" y="0"/>
                </a:lnTo>
                <a:lnTo>
                  <a:pt x="2370756" y="749457"/>
                </a:lnTo>
                <a:lnTo>
                  <a:pt x="0" y="749457"/>
                </a:lnTo>
                <a:lnTo>
                  <a:pt x="0" y="0"/>
                </a:lnTo>
                <a:close/>
              </a:path>
            </a:pathLst>
          </a:custGeom>
          <a:blipFill>
            <a:blip r:embed="rId7"/>
            <a:stretch>
              <a:fillRect l="-758848" t="-1355375"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1EEEB"/>
        </a:solidFill>
      </p:bgPr>
    </p:bg>
    <p:spTree>
      <p:nvGrpSpPr>
        <p:cNvPr id="1" name=""/>
        <p:cNvGrpSpPr/>
        <p:nvPr/>
      </p:nvGrpSpPr>
      <p:grpSpPr>
        <a:xfrm>
          <a:off x="0" y="0"/>
          <a:ext cx="0" cy="0"/>
          <a:chOff x="0" y="0"/>
          <a:chExt cx="0" cy="0"/>
        </a:xfrm>
      </p:grpSpPr>
      <p:sp>
        <p:nvSpPr>
          <p:cNvPr name="Freeform 2" id="2"/>
          <p:cNvSpPr/>
          <p:nvPr/>
        </p:nvSpPr>
        <p:spPr>
          <a:xfrm flipH="false" flipV="false" rot="0">
            <a:off x="4400033" y="310292"/>
            <a:ext cx="8172572" cy="9258300"/>
          </a:xfrm>
          <a:custGeom>
            <a:avLst/>
            <a:gdLst/>
            <a:ahLst/>
            <a:cxnLst/>
            <a:rect r="r" b="b" t="t" l="l"/>
            <a:pathLst>
              <a:path h="9258300" w="8172572">
                <a:moveTo>
                  <a:pt x="0" y="0"/>
                </a:moveTo>
                <a:lnTo>
                  <a:pt x="8172572" y="0"/>
                </a:lnTo>
                <a:lnTo>
                  <a:pt x="8172572" y="9258300"/>
                </a:lnTo>
                <a:lnTo>
                  <a:pt x="0" y="9258300"/>
                </a:lnTo>
                <a:lnTo>
                  <a:pt x="0" y="0"/>
                </a:lnTo>
                <a:close/>
              </a:path>
            </a:pathLst>
          </a:custGeom>
          <a:blipFill>
            <a:blip r:embed="rId3"/>
            <a:stretch>
              <a:fillRect l="0" t="0" r="0" b="0"/>
            </a:stretch>
          </a:blipFill>
        </p:spPr>
      </p:sp>
      <p:sp>
        <p:nvSpPr>
          <p:cNvPr name="Freeform 3" id="3"/>
          <p:cNvSpPr/>
          <p:nvPr/>
        </p:nvSpPr>
        <p:spPr>
          <a:xfrm flipH="false" flipV="false" rot="0">
            <a:off x="8283402" y="3991503"/>
            <a:ext cx="2356027" cy="1969181"/>
          </a:xfrm>
          <a:custGeom>
            <a:avLst/>
            <a:gdLst/>
            <a:ahLst/>
            <a:cxnLst/>
            <a:rect r="r" b="b" t="t" l="l"/>
            <a:pathLst>
              <a:path h="1969181" w="2356027">
                <a:moveTo>
                  <a:pt x="0" y="0"/>
                </a:moveTo>
                <a:lnTo>
                  <a:pt x="2356027" y="0"/>
                </a:lnTo>
                <a:lnTo>
                  <a:pt x="2356027" y="1969181"/>
                </a:lnTo>
                <a:lnTo>
                  <a:pt x="0" y="1969181"/>
                </a:lnTo>
                <a:lnTo>
                  <a:pt x="0" y="0"/>
                </a:lnTo>
                <a:close/>
              </a:path>
            </a:pathLst>
          </a:custGeom>
          <a:blipFill>
            <a:blip r:embed="rId4"/>
            <a:stretch>
              <a:fillRect l="0" t="-313830" r="-199407" b="-125962"/>
            </a:stretch>
          </a:blipFill>
          <a:ln w="38100" cap="sq">
            <a:solidFill>
              <a:srgbClr val="FF3131"/>
            </a:solidFill>
            <a:prstDash val="solid"/>
            <a:miter/>
          </a:ln>
        </p:spPr>
      </p:sp>
      <p:sp>
        <p:nvSpPr>
          <p:cNvPr name="TextBox 4" id="4"/>
          <p:cNvSpPr txBox="true"/>
          <p:nvPr/>
        </p:nvSpPr>
        <p:spPr>
          <a:xfrm rot="0">
            <a:off x="12983935" y="4220761"/>
            <a:ext cx="5111220" cy="1434465"/>
          </a:xfrm>
          <a:prstGeom prst="rect">
            <a:avLst/>
          </a:prstGeom>
        </p:spPr>
        <p:txBody>
          <a:bodyPr anchor="t" rtlCol="false" tIns="0" lIns="0" bIns="0" rIns="0">
            <a:spAutoFit/>
          </a:bodyPr>
          <a:lstStyle/>
          <a:p>
            <a:pPr algn="ctr">
              <a:lnSpc>
                <a:spcPts val="3899"/>
              </a:lnSpc>
            </a:pPr>
            <a:r>
              <a:rPr lang="en-US" sz="2599">
                <a:solidFill>
                  <a:srgbClr val="000000"/>
                </a:solidFill>
                <a:latin typeface="Gotham"/>
                <a:ea typeface="Gotham"/>
                <a:cs typeface="Gotham"/>
                <a:sym typeface="Gotham"/>
              </a:rPr>
              <a:t>Click on this app to open the software.</a:t>
            </a:r>
          </a:p>
          <a:p>
            <a:pPr algn="ctr">
              <a:lnSpc>
                <a:spcPts val="3899"/>
              </a:lnSpc>
              <a:spcBef>
                <a:spcPct val="0"/>
              </a:spcBef>
            </a:pPr>
            <a:r>
              <a:rPr lang="en-US" sz="2599">
                <a:solidFill>
                  <a:srgbClr val="000000"/>
                </a:solidFill>
                <a:latin typeface="Gotham"/>
                <a:ea typeface="Gotham"/>
                <a:cs typeface="Gotham"/>
                <a:sym typeface="Gotham"/>
              </a:rPr>
              <a:t>The launching can take 10-20s.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DAHBAUIKRek</dc:identifier>
  <dcterms:modified xsi:type="dcterms:W3CDTF">2011-08-01T06:04:30Z</dcterms:modified>
  <cp:revision>1</cp:revision>
  <dc:title>WormAnalysisApp</dc:title>
</cp:coreProperties>
</file>